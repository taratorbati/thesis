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1" r:id="rId2"/>
    <p:sldId id="282" r:id="rId3"/>
    <p:sldId id="299" r:id="rId4"/>
    <p:sldId id="278" r:id="rId5"/>
    <p:sldId id="279" r:id="rId6"/>
    <p:sldId id="277" r:id="rId7"/>
    <p:sldId id="300" r:id="rId8"/>
    <p:sldId id="312" r:id="rId9"/>
    <p:sldId id="305" r:id="rId10"/>
    <p:sldId id="304" r:id="rId11"/>
    <p:sldId id="308" r:id="rId12"/>
    <p:sldId id="307" r:id="rId13"/>
    <p:sldId id="306" r:id="rId14"/>
    <p:sldId id="309" r:id="rId15"/>
    <p:sldId id="310" r:id="rId16"/>
    <p:sldId id="303" r:id="rId17"/>
    <p:sldId id="284" r:id="rId18"/>
    <p:sldId id="269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0DDB9E4-EE43-42B4-8ACE-F4CFB5DAE3A1}">
          <p14:sldIdLst>
            <p14:sldId id="281"/>
            <p14:sldId id="282"/>
            <p14:sldId id="299"/>
            <p14:sldId id="278"/>
            <p14:sldId id="279"/>
            <p14:sldId id="277"/>
            <p14:sldId id="300"/>
          </p14:sldIdLst>
        </p14:section>
        <p14:section name="Untitled Section" id="{14B79FE2-AD62-4022-9C5C-1C4219224EE0}">
          <p14:sldIdLst>
            <p14:sldId id="312"/>
            <p14:sldId id="305"/>
            <p14:sldId id="304"/>
            <p14:sldId id="308"/>
            <p14:sldId id="307"/>
            <p14:sldId id="306"/>
            <p14:sldId id="309"/>
            <p14:sldId id="310"/>
            <p14:sldId id="303"/>
            <p14:sldId id="284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bd/3r0laNjtFWsuezWThHJraG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AD4D5"/>
    <a:srgbClr val="404040"/>
    <a:srgbClr val="003300"/>
    <a:srgbClr val="738E91"/>
    <a:srgbClr val="A88F6D"/>
    <a:srgbClr val="595959"/>
    <a:srgbClr val="7E7E7E"/>
    <a:srgbClr val="ECF5DF"/>
    <a:srgbClr val="DBE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7A7ECD-2A97-474F-886D-0B6430B54BD1}">
  <a:tblStyle styleId="{687A7ECD-2A97-474F-886D-0B6430B54BD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EB"/>
          </a:solidFill>
        </a:fill>
      </a:tcStyle>
    </a:wholeTbl>
    <a:band1H>
      <a:tcTxStyle b="off" i="off"/>
      <a:tcStyle>
        <a:tcBdr/>
        <a:fill>
          <a:solidFill>
            <a:srgbClr val="CAD4D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4D5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1" autoAdjust="0"/>
    <p:restoredTop sz="87057" autoAdjust="0"/>
  </p:normalViewPr>
  <p:slideViewPr>
    <p:cSldViewPr snapToGrid="0">
      <p:cViewPr>
        <p:scale>
          <a:sx n="66" d="100"/>
          <a:sy n="66" d="100"/>
        </p:scale>
        <p:origin x="1611" y="6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motivation (here </a:t>
            </a:r>
            <a:r>
              <a:rPr lang="en-US" dirty="0" err="1"/>
              <a:t>i</a:t>
            </a:r>
            <a:r>
              <a:rPr lang="en-US" dirty="0"/>
              <a:t> need to talk about both my country's current water crisis + modern methods of agriculture and precision agriculture + overview of already existing materials and get to the research gap at the end)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66" name="Google Shape;1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A293488-BD57-0B3B-BD3C-1A2C8B38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>
            <a:extLst>
              <a:ext uri="{FF2B5EF4-FFF2-40B4-BE49-F238E27FC236}">
                <a16:creationId xmlns:a16="http://schemas.microsoft.com/office/drawing/2014/main" id="{9634E946-91A1-C8FC-0039-701941814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motivation (here </a:t>
            </a:r>
            <a:r>
              <a:rPr lang="en-US" dirty="0" err="1"/>
              <a:t>i</a:t>
            </a:r>
            <a:r>
              <a:rPr lang="en-US" dirty="0"/>
              <a:t> need to talk about both my country's current water crisis + modern methods of agriculture and precision agriculture + overview of already existing materials and get to the research gap at the end)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617C8694-3E02-34A5-CB08-8B9CAE823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94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E09BD5FC-85FA-1EBE-406C-F1FB104C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>
            <a:extLst>
              <a:ext uri="{FF2B5EF4-FFF2-40B4-BE49-F238E27FC236}">
                <a16:creationId xmlns:a16="http://schemas.microsoft.com/office/drawing/2014/main" id="{7C064220-242D-F61C-EFCE-7765DB193E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2" name="Google Shape;242;p20:notes">
            <a:extLst>
              <a:ext uri="{FF2B5EF4-FFF2-40B4-BE49-F238E27FC236}">
                <a16:creationId xmlns:a16="http://schemas.microsoft.com/office/drawing/2014/main" id="{0D9B0E5A-A95D-44F6-8752-D184F90BE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dirty="0">
                <a:solidFill>
                  <a:schemeClr val="bg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Rain, </a:t>
            </a:r>
            <a:r>
              <a:rPr lang="en-US" sz="11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100" dirty="0">
                <a:solidFill>
                  <a:schemeClr val="bg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Radiation, h2, h7, g </a:t>
            </a:r>
          </a:p>
          <a:p>
            <a:r>
              <a:rPr lang="en-US" dirty="0"/>
              <a:t>general objective (explaining necessary info of model and framing work as stress avoidance control under constraint)</a:t>
            </a: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bg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1566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7A3E6FFB-6478-2069-9DB2-FAE0EF05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>
            <a:extLst>
              <a:ext uri="{FF2B5EF4-FFF2-40B4-BE49-F238E27FC236}">
                <a16:creationId xmlns:a16="http://schemas.microsoft.com/office/drawing/2014/main" id="{C2358D1A-1C52-4AAB-F54C-2DA46D6E22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2" name="Google Shape;242;p20:notes">
            <a:extLst>
              <a:ext uri="{FF2B5EF4-FFF2-40B4-BE49-F238E27FC236}">
                <a16:creationId xmlns:a16="http://schemas.microsoft.com/office/drawing/2014/main" id="{9DCC36A8-A8DD-2D51-209B-4B5FE38AD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system model (full description of my agent-based math model with special attention to key info)</a:t>
            </a: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0249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8C2899B3-762F-4649-2E44-B3BC4C2E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>
            <a:extLst>
              <a:ext uri="{FF2B5EF4-FFF2-40B4-BE49-F238E27FC236}">
                <a16:creationId xmlns:a16="http://schemas.microsoft.com/office/drawing/2014/main" id="{57E5CB9B-BA1B-4A4C-BD72-82AED7D08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2" name="Google Shape;242;p20:notes">
            <a:extLst>
              <a:ext uri="{FF2B5EF4-FFF2-40B4-BE49-F238E27FC236}">
                <a16:creationId xmlns:a16="http://schemas.microsoft.com/office/drawing/2014/main" id="{CD881B9A-6691-7710-1D27-9F81E3BD8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449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F3EFD900-0047-9022-017A-E09320E6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>
            <a:extLst>
              <a:ext uri="{FF2B5EF4-FFF2-40B4-BE49-F238E27FC236}">
                <a16:creationId xmlns:a16="http://schemas.microsoft.com/office/drawing/2014/main" id="{6162103A-0203-BC19-9D69-C81CEC531D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2" name="Google Shape;242;p20:notes">
            <a:extLst>
              <a:ext uri="{FF2B5EF4-FFF2-40B4-BE49-F238E27FC236}">
                <a16:creationId xmlns:a16="http://schemas.microsoft.com/office/drawing/2014/main" id="{0151B852-CC63-D63C-BD33-BD566CA85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482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49" name="Google Shape;24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>
            <a:spLocks noGrp="1"/>
          </p:cNvSpPr>
          <p:nvPr>
            <p:ph type="title"/>
          </p:nvPr>
        </p:nvSpPr>
        <p:spPr>
          <a:xfrm>
            <a:off x="548175" y="340559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15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8" y="-3"/>
            <a:ext cx="91417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age 1">
  <p:cSld name="8_Пользовательский макет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4"/>
          <p:cNvGrpSpPr/>
          <p:nvPr/>
        </p:nvGrpSpPr>
        <p:grpSpPr>
          <a:xfrm>
            <a:off x="0" y="0"/>
            <a:ext cx="9144000" cy="5143705"/>
            <a:chOff x="0" y="0"/>
            <a:chExt cx="9144000" cy="4180175"/>
          </a:xfrm>
        </p:grpSpPr>
        <p:pic>
          <p:nvPicPr>
            <p:cNvPr id="32" name="Google Shape;32;p44"/>
            <p:cNvPicPr preferRelativeResize="0"/>
            <p:nvPr/>
          </p:nvPicPr>
          <p:blipFill rotWithShape="1">
            <a:blip r:embed="rId2">
              <a:alphaModFix/>
            </a:blip>
            <a:srcRect l="49367"/>
            <a:stretch/>
          </p:blipFill>
          <p:spPr>
            <a:xfrm>
              <a:off x="4514100" y="0"/>
              <a:ext cx="4629900" cy="228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44"/>
            <p:cNvPicPr preferRelativeResize="0"/>
            <p:nvPr/>
          </p:nvPicPr>
          <p:blipFill rotWithShape="1">
            <a:blip r:embed="rId2">
              <a:alphaModFix/>
            </a:blip>
            <a:srcRect l="49859"/>
            <a:stretch/>
          </p:blipFill>
          <p:spPr>
            <a:xfrm rot="10800000" flipH="1">
              <a:off x="4559225" y="1894175"/>
              <a:ext cx="4584775" cy="228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44"/>
            <p:cNvPicPr preferRelativeResize="0"/>
            <p:nvPr/>
          </p:nvPicPr>
          <p:blipFill rotWithShape="1">
            <a:blip r:embed="rId2">
              <a:alphaModFix/>
            </a:blip>
            <a:srcRect l="50000"/>
            <a:stretch/>
          </p:blipFill>
          <p:spPr>
            <a:xfrm flipH="1">
              <a:off x="0" y="0"/>
              <a:ext cx="4572000" cy="228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44"/>
            <p:cNvPicPr preferRelativeResize="0"/>
            <p:nvPr/>
          </p:nvPicPr>
          <p:blipFill rotWithShape="1">
            <a:blip r:embed="rId2">
              <a:alphaModFix/>
            </a:blip>
            <a:srcRect l="50017"/>
            <a:stretch/>
          </p:blipFill>
          <p:spPr>
            <a:xfrm rot="10800000">
              <a:off x="0" y="1894175"/>
              <a:ext cx="4570500" cy="228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">
  <p:cSld name="CUSTOM_3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>
            <a:spLocks noGrp="1"/>
          </p:cNvSpPr>
          <p:nvPr>
            <p:ph type="title"/>
          </p:nvPr>
        </p:nvSpPr>
        <p:spPr>
          <a:xfrm>
            <a:off x="548175" y="340559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8" y="-3"/>
            <a:ext cx="91417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5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Google Shape;43;p4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Google Shape;50;p4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9"/>
          <p:cNvSpPr txBox="1">
            <a:spLocks noGrp="1"/>
          </p:cNvSpPr>
          <p:nvPr>
            <p:ph type="body" idx="1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body" idx="2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49"/>
          <p:cNvSpPr txBox="1">
            <a:spLocks noGrp="1"/>
          </p:cNvSpPr>
          <p:nvPr>
            <p:ph type="body" idx="3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9"/>
          <p:cNvSpPr txBox="1">
            <a:spLocks noGrp="1"/>
          </p:cNvSpPr>
          <p:nvPr>
            <p:ph type="body" idx="4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body" idx="5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9"/>
          <p:cNvSpPr txBox="1">
            <a:spLocks noGrp="1"/>
          </p:cNvSpPr>
          <p:nvPr>
            <p:ph type="body" idx="6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9" name="Google Shape;59;p49"/>
          <p:cNvSpPr>
            <a:spLocks noGrp="1"/>
          </p:cNvSpPr>
          <p:nvPr>
            <p:ph type="pic" idx="7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Google Shape;60;p49"/>
          <p:cNvSpPr>
            <a:spLocks noGrp="1"/>
          </p:cNvSpPr>
          <p:nvPr>
            <p:ph type="pic" idx="8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Google Shape;61;p49"/>
          <p:cNvSpPr>
            <a:spLocks noGrp="1"/>
          </p:cNvSpPr>
          <p:nvPr>
            <p:ph type="pic" idx="9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0"/>
          <p:cNvSpPr txBox="1">
            <a:spLocks noGrp="1"/>
          </p:cNvSpPr>
          <p:nvPr>
            <p:ph type="body" idx="1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0"/>
          <p:cNvSpPr>
            <a:spLocks noGrp="1"/>
          </p:cNvSpPr>
          <p:nvPr>
            <p:ph type="pic" idx="2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p50"/>
          <p:cNvSpPr>
            <a:spLocks noGrp="1"/>
          </p:cNvSpPr>
          <p:nvPr>
            <p:ph type="pic" idx="3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50"/>
          <p:cNvSpPr>
            <a:spLocks noGrp="1"/>
          </p:cNvSpPr>
          <p:nvPr>
            <p:ph type="pic" idx="4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50"/>
          <p:cNvSpPr>
            <a:spLocks noGrp="1"/>
          </p:cNvSpPr>
          <p:nvPr>
            <p:ph type="pic" idx="5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Google Shape;69;p50"/>
          <p:cNvSpPr>
            <a:spLocks noGrp="1"/>
          </p:cNvSpPr>
          <p:nvPr>
            <p:ph type="pic" idx="6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1"/>
          <p:cNvSpPr txBox="1">
            <a:spLocks noGrp="1"/>
          </p:cNvSpPr>
          <p:nvPr>
            <p:ph type="body" idx="1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body" idx="2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body" idx="3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>
            <a:spLocks noGrp="1"/>
          </p:cNvSpPr>
          <p:nvPr>
            <p:ph type="pic" idx="4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51"/>
          <p:cNvSpPr>
            <a:spLocks noGrp="1"/>
          </p:cNvSpPr>
          <p:nvPr>
            <p:ph type="pic" idx="5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51"/>
          <p:cNvSpPr>
            <a:spLocks noGrp="1"/>
          </p:cNvSpPr>
          <p:nvPr>
            <p:ph type="pic" idx="6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Google Shape;78;p51"/>
          <p:cNvSpPr txBox="1">
            <a:spLocks noGrp="1"/>
          </p:cNvSpPr>
          <p:nvPr>
            <p:ph type="body" idx="7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1"/>
          <p:cNvSpPr txBox="1">
            <a:spLocks noGrp="1"/>
          </p:cNvSpPr>
          <p:nvPr>
            <p:ph type="body" idx="8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51"/>
          <p:cNvSpPr txBox="1">
            <a:spLocks noGrp="1"/>
          </p:cNvSpPr>
          <p:nvPr>
            <p:ph type="body" idx="9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1"/>
          <p:cNvSpPr>
            <a:spLocks noGrp="1"/>
          </p:cNvSpPr>
          <p:nvPr>
            <p:ph type="pic" idx="13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Google Shape;82;p51"/>
          <p:cNvSpPr>
            <a:spLocks noGrp="1"/>
          </p:cNvSpPr>
          <p:nvPr>
            <p:ph type="pic" idx="14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Google Shape;83;p51"/>
          <p:cNvSpPr>
            <a:spLocks noGrp="1"/>
          </p:cNvSpPr>
          <p:nvPr>
            <p:ph type="pic" idx="15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3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53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53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53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5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2">
  <p:cSld name="CUSTOM_3_1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4"/>
          <p:cNvSpPr txBox="1">
            <a:spLocks noGrp="1"/>
          </p:cNvSpPr>
          <p:nvPr>
            <p:ph type="title"/>
          </p:nvPr>
        </p:nvSpPr>
        <p:spPr>
          <a:xfrm>
            <a:off x="548175" y="340559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8" y="-3"/>
            <a:ext cx="91417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2 1">
  <p:cSld name="CUSTOM_3_1_2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5"/>
          <p:cNvSpPr txBox="1">
            <a:spLocks noGrp="1"/>
          </p:cNvSpPr>
          <p:nvPr>
            <p:ph type="title"/>
          </p:nvPr>
        </p:nvSpPr>
        <p:spPr>
          <a:xfrm>
            <a:off x="548175" y="340559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8" y="-3"/>
            <a:ext cx="91417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2 1 1">
  <p:cSld name="CUSTOM_3_1_2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6"/>
          <p:cNvSpPr txBox="1">
            <a:spLocks noGrp="1"/>
          </p:cNvSpPr>
          <p:nvPr>
            <p:ph type="title"/>
          </p:nvPr>
        </p:nvSpPr>
        <p:spPr>
          <a:xfrm>
            <a:off x="548175" y="340559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0" name="Google Shape;10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8" y="-3"/>
            <a:ext cx="91417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3_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7"/>
          <p:cNvSpPr txBox="1">
            <a:spLocks noGrp="1"/>
          </p:cNvSpPr>
          <p:nvPr>
            <p:ph type="title"/>
          </p:nvPr>
        </p:nvSpPr>
        <p:spPr>
          <a:xfrm>
            <a:off x="548175" y="340559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3" name="Google Shape;10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3" y="-3"/>
            <a:ext cx="91417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8"/>
          <p:cNvSpPr txBox="1">
            <a:spLocks noGrp="1"/>
          </p:cNvSpPr>
          <p:nvPr>
            <p:ph type="title"/>
          </p:nvPr>
        </p:nvSpPr>
        <p:spPr>
          <a:xfrm>
            <a:off x="457200" y="23838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">
  <p:cSld name="CUSTOM_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9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-20400" y="13"/>
            <a:ext cx="9184800" cy="514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 2 1">
  <p:cSld name="CUSTOM_2_2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0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-20400" y="12"/>
            <a:ext cx="9184800" cy="514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">
  <p:cSld name="CUSTOM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457200" y="23838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 1 1">
  <p:cSld name="6_Пользовательский макет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pic>
        <p:nvPicPr>
          <p:cNvPr id="115" name="Google Shape;115;p62"/>
          <p:cNvPicPr preferRelativeResize="0"/>
          <p:nvPr/>
        </p:nvPicPr>
        <p:blipFill rotWithShape="1">
          <a:blip r:embed="rId2">
            <a:alphaModFix amt="86000"/>
          </a:blip>
          <a:srcRect/>
          <a:stretch/>
        </p:blipFill>
        <p:spPr>
          <a:xfrm>
            <a:off x="0" y="-16759"/>
            <a:ext cx="9144000" cy="517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>
  <p:cSld name="3_Пользовательский макет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3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Google Shape;119;p63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age">
  <p:cSld name="8_Пользовательский макет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age 2">
  <p:cSld name="8_Пользовательский макет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65"/>
          <p:cNvGrpSpPr/>
          <p:nvPr/>
        </p:nvGrpSpPr>
        <p:grpSpPr>
          <a:xfrm>
            <a:off x="0" y="0"/>
            <a:ext cx="9144002" cy="5143381"/>
            <a:chOff x="0" y="0"/>
            <a:chExt cx="9144002" cy="4973775"/>
          </a:xfrm>
        </p:grpSpPr>
        <p:pic>
          <p:nvPicPr>
            <p:cNvPr id="123" name="Google Shape;123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2" cy="360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65"/>
            <p:cNvPicPr preferRelativeResize="0"/>
            <p:nvPr/>
          </p:nvPicPr>
          <p:blipFill rotWithShape="1">
            <a:blip r:embed="rId2">
              <a:alphaModFix/>
            </a:blip>
            <a:srcRect b="30790"/>
            <a:stretch/>
          </p:blipFill>
          <p:spPr>
            <a:xfrm rot="10800000" flipH="1">
              <a:off x="0" y="2480350"/>
              <a:ext cx="9144002" cy="2493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age 2 1">
  <p:cSld name="8_Пользовательский макет_2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66"/>
          <p:cNvGrpSpPr/>
          <p:nvPr/>
        </p:nvGrpSpPr>
        <p:grpSpPr>
          <a:xfrm>
            <a:off x="0" y="0"/>
            <a:ext cx="9144002" cy="5143381"/>
            <a:chOff x="0" y="0"/>
            <a:chExt cx="9144002" cy="4973775"/>
          </a:xfrm>
        </p:grpSpPr>
        <p:pic>
          <p:nvPicPr>
            <p:cNvPr id="127" name="Google Shape;127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9144002" cy="360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66"/>
            <p:cNvPicPr preferRelativeResize="0"/>
            <p:nvPr/>
          </p:nvPicPr>
          <p:blipFill rotWithShape="1">
            <a:blip r:embed="rId2">
              <a:alphaModFix/>
            </a:blip>
            <a:srcRect b="30790"/>
            <a:stretch/>
          </p:blipFill>
          <p:spPr>
            <a:xfrm rot="10800000" flipH="1">
              <a:off x="0" y="2480350"/>
              <a:ext cx="9144002" cy="2493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4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7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1" name="Google Shape;131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 2">
  <p:cSld name="CUSTOM_4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8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4" name="Google Shape;13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 1">
  <p:cSld name="CUSTOM_4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9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7" name="Google Shape;137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 1 1">
  <p:cSld name="CUSTOM_4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0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0" name="Google Shape;140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71"/>
          <p:cNvSpPr txBox="1">
            <a:spLocks noGrp="1"/>
          </p:cNvSpPr>
          <p:nvPr>
            <p:ph type="body" idx="1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71"/>
          <p:cNvSpPr>
            <a:spLocks noGrp="1"/>
          </p:cNvSpPr>
          <p:nvPr>
            <p:ph type="pic" idx="2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Google Shape;145;p71"/>
          <p:cNvSpPr>
            <a:spLocks noGrp="1"/>
          </p:cNvSpPr>
          <p:nvPr>
            <p:ph type="pic" idx="3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blank">
  <p:cSld name="9_Пользовательский макет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blank 1 1">
  <p:cSld name="9_Пользовательский макет_1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74"/>
          <p:cNvSpPr txBox="1">
            <a:spLocks noGrp="1"/>
          </p:cNvSpPr>
          <p:nvPr>
            <p:ph type="body" idx="1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74"/>
          <p:cNvSpPr>
            <a:spLocks noGrp="1"/>
          </p:cNvSpPr>
          <p:nvPr>
            <p:ph type="pic" idx="2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Google Shape;153;p74"/>
          <p:cNvSpPr>
            <a:spLocks noGrp="1"/>
          </p:cNvSpPr>
          <p:nvPr>
            <p:ph type="pic" idx="3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74"/>
          <p:cNvSpPr>
            <a:spLocks noGrp="1"/>
          </p:cNvSpPr>
          <p:nvPr>
            <p:ph type="pic" idx="4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74"/>
          <p:cNvSpPr>
            <a:spLocks noGrp="1"/>
          </p:cNvSpPr>
          <p:nvPr>
            <p:ph type="pic" idx="5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67AB-EB23-4436-8E76-D6813BCCE0E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07A55-DA88-411F-B888-A479120C5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34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1;p1">
            <a:extLst>
              <a:ext uri="{FF2B5EF4-FFF2-40B4-BE49-F238E27FC236}">
                <a16:creationId xmlns:a16="http://schemas.microsoft.com/office/drawing/2014/main" id="{87C8DA29-BD28-1A50-8F73-2BFD6FA7C4A9}"/>
              </a:ext>
            </a:extLst>
          </p:cNvPr>
          <p:cNvSpPr txBox="1">
            <a:spLocks/>
          </p:cNvSpPr>
          <p:nvPr/>
        </p:nvSpPr>
        <p:spPr>
          <a:xfrm>
            <a:off x="1545430" y="1718524"/>
            <a:ext cx="6053138" cy="1627338"/>
          </a:xfrm>
          <a:prstGeom prst="rect">
            <a:avLst/>
          </a:prstGeom>
          <a:noFill/>
          <a:ln>
            <a:noFill/>
          </a:ln>
          <a:effectLst>
            <a:outerShdw algn="bl" rotWithShape="0">
              <a:srgbClr val="000000">
                <a:alpha val="57254"/>
              </a:srgbClr>
            </a:outerShdw>
          </a:effectLst>
        </p:spPr>
        <p:txBody>
          <a:bodyPr spcFirstLastPara="1" vert="horz" wrap="square" lIns="68569" tIns="34275" rIns="68569" bIns="34275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3600"/>
            </a:pPr>
            <a:r>
              <a:rPr lang="en-US" sz="3375" dirty="0">
                <a:latin typeface="Times New Roman"/>
                <a:ea typeface="Times New Roman"/>
                <a:cs typeface="Times New Roman"/>
                <a:sym typeface="Times New Roman"/>
              </a:rPr>
              <a:t>Study of Modern Control Methods for Agricultural Irrigation Systems</a:t>
            </a:r>
          </a:p>
        </p:txBody>
      </p:sp>
      <p:sp>
        <p:nvSpPr>
          <p:cNvPr id="6" name="Google Shape;162;p1">
            <a:extLst>
              <a:ext uri="{FF2B5EF4-FFF2-40B4-BE49-F238E27FC236}">
                <a16:creationId xmlns:a16="http://schemas.microsoft.com/office/drawing/2014/main" id="{88E9525F-8BD7-0E52-C937-7D3B906201BD}"/>
              </a:ext>
            </a:extLst>
          </p:cNvPr>
          <p:cNvSpPr txBox="1">
            <a:spLocks/>
          </p:cNvSpPr>
          <p:nvPr/>
        </p:nvSpPr>
        <p:spPr>
          <a:xfrm>
            <a:off x="2517509" y="3774160"/>
            <a:ext cx="4108980" cy="13287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spcBef>
                <a:spcPts val="300"/>
              </a:spcBef>
              <a:buClr>
                <a:schemeClr val="dk1"/>
              </a:buClr>
              <a:buSzPts val="358"/>
              <a:buNone/>
            </a:pPr>
            <a:r>
              <a:rPr lang="en-US" sz="1500" b="1" dirty="0">
                <a:latin typeface="Times New Roman"/>
                <a:ea typeface="Times New Roman"/>
                <a:cs typeface="Times New Roman"/>
                <a:sym typeface="Times New Roman"/>
              </a:rPr>
              <a:t>Student: Tara Torbati, gr. R4237c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Clr>
                <a:schemeClr val="dk1"/>
              </a:buClr>
              <a:buSzPts val="358"/>
              <a:buNone/>
            </a:pPr>
            <a:r>
              <a:rPr lang="en-US" sz="1500" b="1" dirty="0">
                <a:latin typeface="Times New Roman"/>
                <a:ea typeface="Times New Roman"/>
                <a:cs typeface="Times New Roman"/>
                <a:sym typeface="Times New Roman"/>
              </a:rPr>
              <a:t>Supervisor: Alexey A. </a:t>
            </a:r>
            <a:r>
              <a:rPr lang="en-US" sz="15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Peregudin</a:t>
            </a:r>
            <a:endParaRPr lang="en-US" sz="15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5000"/>
              </a:lnSpc>
              <a:spcBef>
                <a:spcPts val="300"/>
              </a:spcBef>
              <a:buClr>
                <a:schemeClr val="dk1"/>
              </a:buClr>
              <a:buSzPts val="358"/>
              <a:buNone/>
            </a:pPr>
            <a:endParaRPr lang="en-US" sz="15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Clr>
                <a:schemeClr val="dk1"/>
              </a:buClr>
              <a:buSzPts val="358"/>
              <a:buNone/>
            </a:pPr>
            <a:r>
              <a:rPr lang="en-US" sz="1500" b="1" dirty="0">
                <a:latin typeface="Times New Roman"/>
                <a:ea typeface="Times New Roman"/>
                <a:cs typeface="Times New Roman"/>
                <a:sym typeface="Times New Roman"/>
              </a:rPr>
              <a:t>Saint Petersburg 2026</a:t>
            </a:r>
          </a:p>
        </p:txBody>
      </p:sp>
      <p:sp>
        <p:nvSpPr>
          <p:cNvPr id="7" name="Google Shape;163;p1">
            <a:extLst>
              <a:ext uri="{FF2B5EF4-FFF2-40B4-BE49-F238E27FC236}">
                <a16:creationId xmlns:a16="http://schemas.microsoft.com/office/drawing/2014/main" id="{2C3AAE25-EEE8-686A-A232-56396DD3A54B}"/>
              </a:ext>
            </a:extLst>
          </p:cNvPr>
          <p:cNvSpPr txBox="1"/>
          <p:nvPr/>
        </p:nvSpPr>
        <p:spPr>
          <a:xfrm>
            <a:off x="3199962" y="311285"/>
            <a:ext cx="2744077" cy="4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>
              <a:buSzPts val="2000"/>
            </a:pPr>
            <a:r>
              <a:rPr lang="en-US" sz="1875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ITMO University</a:t>
            </a:r>
            <a:endParaRPr sz="1875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AutoShape 2" descr="Premium Photo | Optimizing water usage in agricultural practices ...">
            <a:extLst>
              <a:ext uri="{FF2B5EF4-FFF2-40B4-BE49-F238E27FC236}">
                <a16:creationId xmlns:a16="http://schemas.microsoft.com/office/drawing/2014/main" id="{7B7395BC-07DD-C3E0-CFFC-D9203EB92D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3693" y="1718332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57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5D96375-7D37-C831-526C-0439772B0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164" y="1849050"/>
            <a:ext cx="3487236" cy="27041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51798B-32AD-648E-B98F-6ED84998A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88" y="1268281"/>
            <a:ext cx="5101776" cy="2467972"/>
          </a:xfrm>
          <a:prstGeom prst="rect">
            <a:avLst/>
          </a:prstGeom>
        </p:spPr>
      </p:pic>
      <p:sp>
        <p:nvSpPr>
          <p:cNvPr id="29" name="Google Shape;178;p3">
            <a:extLst>
              <a:ext uri="{FF2B5EF4-FFF2-40B4-BE49-F238E27FC236}">
                <a16:creationId xmlns:a16="http://schemas.microsoft.com/office/drawing/2014/main" id="{070F9C57-2194-7B43-7F9A-52CC337AFA72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2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4;p3">
            <a:extLst>
              <a:ext uri="{FF2B5EF4-FFF2-40B4-BE49-F238E27FC236}">
                <a16:creationId xmlns:a16="http://schemas.microsoft.com/office/drawing/2014/main" id="{156F37DF-C5E0-61A9-89BC-050EC6C986CF}"/>
              </a:ext>
            </a:extLst>
          </p:cNvPr>
          <p:cNvSpPr/>
          <p:nvPr/>
        </p:nvSpPr>
        <p:spPr>
          <a:xfrm>
            <a:off x="368100" y="280625"/>
            <a:ext cx="6870900" cy="649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18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FE0C573-625D-7E87-2F42-D3B3FB98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4;p3">
            <a:extLst>
              <a:ext uri="{FF2B5EF4-FFF2-40B4-BE49-F238E27FC236}">
                <a16:creationId xmlns:a16="http://schemas.microsoft.com/office/drawing/2014/main" id="{24FAE4D7-4398-1589-0162-603B8DBD3F35}"/>
              </a:ext>
            </a:extLst>
          </p:cNvPr>
          <p:cNvSpPr/>
          <p:nvPr/>
        </p:nvSpPr>
        <p:spPr>
          <a:xfrm>
            <a:off x="368100" y="280625"/>
            <a:ext cx="6870900" cy="649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Goal</a:t>
            </a:r>
            <a:endParaRPr sz="18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75;p3">
            <a:extLst>
              <a:ext uri="{FF2B5EF4-FFF2-40B4-BE49-F238E27FC236}">
                <a16:creationId xmlns:a16="http://schemas.microsoft.com/office/drawing/2014/main" id="{4ECF9E87-3B3B-B86F-50F0-C5CD1C57084F}"/>
              </a:ext>
            </a:extLst>
          </p:cNvPr>
          <p:cNvSpPr txBox="1"/>
          <p:nvPr/>
        </p:nvSpPr>
        <p:spPr>
          <a:xfrm>
            <a:off x="364200" y="1159563"/>
            <a:ext cx="8415600" cy="805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aim was to study the applications of</a:t>
            </a:r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Modern Control Methods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Agricultural Irrigation of a field in Talish mountains, Gilan province Iran under water scarcity</a:t>
            </a:r>
            <a:endParaRPr sz="16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76;p3">
            <a:extLst>
              <a:ext uri="{FF2B5EF4-FFF2-40B4-BE49-F238E27FC236}">
                <a16:creationId xmlns:a16="http://schemas.microsoft.com/office/drawing/2014/main" id="{6F9FC395-5977-12BD-09E7-A0E171213762}"/>
              </a:ext>
            </a:extLst>
          </p:cNvPr>
          <p:cNvSpPr txBox="1"/>
          <p:nvPr/>
        </p:nvSpPr>
        <p:spPr>
          <a:xfrm>
            <a:off x="897500" y="2170950"/>
            <a:ext cx="6761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and data selection and preprocessing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Modeling of 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agricultural system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 Design and Simulation (MPC vs RL)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lang="en-US"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Analysis and Comparison of Results</a:t>
            </a:r>
            <a:endParaRPr sz="18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78;p3">
            <a:extLst>
              <a:ext uri="{FF2B5EF4-FFF2-40B4-BE49-F238E27FC236}">
                <a16:creationId xmlns:a16="http://schemas.microsoft.com/office/drawing/2014/main" id="{2051EC52-B3BD-0F42-48F1-E7575BCC781C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79;p3">
            <a:extLst>
              <a:ext uri="{FF2B5EF4-FFF2-40B4-BE49-F238E27FC236}">
                <a16:creationId xmlns:a16="http://schemas.microsoft.com/office/drawing/2014/main" id="{35EF1627-AD8D-66FD-BB9E-862AF9780A9F}"/>
              </a:ext>
            </a:extLst>
          </p:cNvPr>
          <p:cNvSpPr/>
          <p:nvPr/>
        </p:nvSpPr>
        <p:spPr>
          <a:xfrm rot="5400000">
            <a:off x="407575" y="3718500"/>
            <a:ext cx="552300" cy="3018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80;p3">
            <a:extLst>
              <a:ext uri="{FF2B5EF4-FFF2-40B4-BE49-F238E27FC236}">
                <a16:creationId xmlns:a16="http://schemas.microsoft.com/office/drawing/2014/main" id="{194A3D08-6607-DBC1-57BC-AD517B1BB4FC}"/>
              </a:ext>
            </a:extLst>
          </p:cNvPr>
          <p:cNvSpPr/>
          <p:nvPr/>
        </p:nvSpPr>
        <p:spPr>
          <a:xfrm rot="5400000">
            <a:off x="407575" y="3166200"/>
            <a:ext cx="552300" cy="3018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81;p3">
            <a:extLst>
              <a:ext uri="{FF2B5EF4-FFF2-40B4-BE49-F238E27FC236}">
                <a16:creationId xmlns:a16="http://schemas.microsoft.com/office/drawing/2014/main" id="{8BE4948E-6356-3CC1-5DC8-3AF849C59203}"/>
              </a:ext>
            </a:extLst>
          </p:cNvPr>
          <p:cNvSpPr/>
          <p:nvPr/>
        </p:nvSpPr>
        <p:spPr>
          <a:xfrm rot="5400000">
            <a:off x="407575" y="2613900"/>
            <a:ext cx="552300" cy="3018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2;p3">
            <a:extLst>
              <a:ext uri="{FF2B5EF4-FFF2-40B4-BE49-F238E27FC236}">
                <a16:creationId xmlns:a16="http://schemas.microsoft.com/office/drawing/2014/main" id="{44BDA528-AA02-D2F9-41A4-67C580654352}"/>
              </a:ext>
            </a:extLst>
          </p:cNvPr>
          <p:cNvSpPr/>
          <p:nvPr/>
        </p:nvSpPr>
        <p:spPr>
          <a:xfrm rot="5400000">
            <a:off x="407575" y="2061600"/>
            <a:ext cx="552300" cy="3018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638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2855E7F7-DEAD-16D0-267F-35722055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6BA7FA26-231E-046E-3452-6B7BA59D53CB}"/>
                  </a:ext>
                </a:extLst>
              </p:cNvPr>
              <p:cNvSpPr txBox="1"/>
              <p:nvPr/>
            </p:nvSpPr>
            <p:spPr>
              <a:xfrm>
                <a:off x="6277746" y="3684646"/>
                <a:ext cx="2258424" cy="13202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oot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moisture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mm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hermal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GDD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maturation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stress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biomass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lit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surface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ponding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mm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6BA7FA26-231E-046E-3452-6B7BA59D5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746" y="3684646"/>
                <a:ext cx="2258424" cy="1320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97;g3e1b453938d_0_4">
            <a:extLst>
              <a:ext uri="{FF2B5EF4-FFF2-40B4-BE49-F238E27FC236}">
                <a16:creationId xmlns:a16="http://schemas.microsoft.com/office/drawing/2014/main" id="{AD053EA7-56C7-A8FF-DBD6-F718D2BFA7AA}"/>
              </a:ext>
            </a:extLst>
          </p:cNvPr>
          <p:cNvSpPr txBox="1"/>
          <p:nvPr/>
        </p:nvSpPr>
        <p:spPr>
          <a:xfrm>
            <a:off x="241800" y="289750"/>
            <a:ext cx="85402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Overview</a:t>
            </a:r>
            <a:endParaRPr sz="3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3948CCB-8CAB-4DF5-7E28-9937E47617BE}"/>
              </a:ext>
            </a:extLst>
          </p:cNvPr>
          <p:cNvGrpSpPr/>
          <p:nvPr/>
        </p:nvGrpSpPr>
        <p:grpSpPr>
          <a:xfrm>
            <a:off x="408541" y="1724150"/>
            <a:ext cx="3938532" cy="3096120"/>
            <a:chOff x="884495" y="1303538"/>
            <a:chExt cx="4184800" cy="30961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9D8231C-2C6E-2EC7-2D8A-86ADFBBD48A2}"/>
                </a:ext>
              </a:extLst>
            </p:cNvPr>
            <p:cNvSpPr/>
            <p:nvPr/>
          </p:nvSpPr>
          <p:spPr>
            <a:xfrm>
              <a:off x="896731" y="2464398"/>
              <a:ext cx="1508302" cy="76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CONTROLLER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8BDCA5B-A806-BE5D-3CEC-E441FA88F6B0}"/>
                </a:ext>
              </a:extLst>
            </p:cNvPr>
            <p:cNvCxnSpPr>
              <a:cxnSpLocks/>
              <a:stCxn id="86" idx="3"/>
              <a:endCxn id="49" idx="1"/>
            </p:cNvCxnSpPr>
            <p:nvPr/>
          </p:nvCxnSpPr>
          <p:spPr>
            <a:xfrm>
              <a:off x="2405033" y="2848711"/>
              <a:ext cx="655791" cy="0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278F6345-2E15-2313-3817-D830D457097F}"/>
                </a:ext>
              </a:extLst>
            </p:cNvPr>
            <p:cNvCxnSpPr>
              <a:cxnSpLocks/>
              <a:stCxn id="95" idx="1"/>
            </p:cNvCxnSpPr>
            <p:nvPr/>
          </p:nvCxnSpPr>
          <p:spPr>
            <a:xfrm rot="10800000">
              <a:off x="884495" y="2975583"/>
              <a:ext cx="12236" cy="1039762"/>
            </a:xfrm>
            <a:prstGeom prst="bentConnector3">
              <a:avLst>
                <a:gd name="adj1" fmla="val 1968258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07DF429-4BA5-DE60-3C75-F4E159B0B244}"/>
                </a:ext>
              </a:extLst>
            </p:cNvPr>
            <p:cNvSpPr/>
            <p:nvPr/>
          </p:nvSpPr>
          <p:spPr>
            <a:xfrm>
              <a:off x="896731" y="3631032"/>
              <a:ext cx="1508302" cy="76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SENSORS</a:t>
              </a:r>
            </a:p>
          </p:txBody>
        </p: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3D4542B7-A149-DB50-1532-233A459B3FC2}"/>
                </a:ext>
              </a:extLst>
            </p:cNvPr>
            <p:cNvCxnSpPr>
              <a:cxnSpLocks/>
              <a:stCxn id="49" idx="3"/>
              <a:endCxn id="95" idx="3"/>
            </p:cNvCxnSpPr>
            <p:nvPr/>
          </p:nvCxnSpPr>
          <p:spPr>
            <a:xfrm flipH="1">
              <a:off x="2405033" y="2848711"/>
              <a:ext cx="2664262" cy="1166634"/>
            </a:xfrm>
            <a:prstGeom prst="bentConnector3">
              <a:avLst>
                <a:gd name="adj1" fmla="val -9117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79F49D7-41EB-1A4C-C158-EFEF3704BB96}"/>
                </a:ext>
              </a:extLst>
            </p:cNvPr>
            <p:cNvSpPr/>
            <p:nvPr/>
          </p:nvSpPr>
          <p:spPr>
            <a:xfrm>
              <a:off x="909432" y="1303538"/>
              <a:ext cx="1508302" cy="76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WEATHER FORECAST</a:t>
              </a:r>
            </a:p>
          </p:txBody>
        </p: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97A1B0E5-E866-8EF7-6A25-AEE9C174B5EF}"/>
                </a:ext>
              </a:extLst>
            </p:cNvPr>
            <p:cNvCxnSpPr>
              <a:cxnSpLocks/>
              <a:stCxn id="105" idx="1"/>
            </p:cNvCxnSpPr>
            <p:nvPr/>
          </p:nvCxnSpPr>
          <p:spPr>
            <a:xfrm rot="10800000" flipV="1">
              <a:off x="884496" y="1687851"/>
              <a:ext cx="24937" cy="1030290"/>
            </a:xfrm>
            <a:prstGeom prst="bentConnector3">
              <a:avLst>
                <a:gd name="adj1" fmla="val 1016710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43CE2CA-BD0F-0310-060D-B3562DD53FF7}"/>
                  </a:ext>
                </a:extLst>
              </p:cNvPr>
              <p:cNvSpPr txBox="1"/>
              <p:nvPr/>
            </p:nvSpPr>
            <p:spPr>
              <a:xfrm>
                <a:off x="1918694" y="3031031"/>
                <a:ext cx="41049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43CE2CA-BD0F-0310-060D-B3562DD53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694" y="3031031"/>
                <a:ext cx="410497" cy="215444"/>
              </a:xfrm>
              <a:prstGeom prst="rect">
                <a:avLst/>
              </a:prstGeom>
              <a:blipFill>
                <a:blip r:embed="rId4"/>
                <a:stretch>
                  <a:fillRect l="-597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D321A90-5752-8EF4-F77C-D86C78505506}"/>
                  </a:ext>
                </a:extLst>
              </p:cNvPr>
              <p:cNvSpPr txBox="1"/>
              <p:nvPr/>
            </p:nvSpPr>
            <p:spPr>
              <a:xfrm>
                <a:off x="3147272" y="4472165"/>
                <a:ext cx="40498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D321A90-5752-8EF4-F77C-D86C78505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272" y="4472165"/>
                <a:ext cx="404983" cy="215444"/>
              </a:xfrm>
              <a:prstGeom prst="rect">
                <a:avLst/>
              </a:prstGeom>
              <a:blipFill>
                <a:blip r:embed="rId5"/>
                <a:stretch>
                  <a:fillRect l="-4478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Picture 48">
            <a:extLst>
              <a:ext uri="{FF2B5EF4-FFF2-40B4-BE49-F238E27FC236}">
                <a16:creationId xmlns:a16="http://schemas.microsoft.com/office/drawing/2014/main" id="{360DAA7F-2020-FB5B-9EE2-4A18E9140A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9007" t="18549" r="265" b="1853"/>
          <a:stretch>
            <a:fillRect/>
          </a:stretch>
        </p:blipFill>
        <p:spPr>
          <a:xfrm>
            <a:off x="2456797" y="2428226"/>
            <a:ext cx="1890276" cy="168219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03CD626D-8C96-EEC0-D212-66EBB4833C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516" r="-269" b="591"/>
          <a:stretch>
            <a:fillRect/>
          </a:stretch>
        </p:blipFill>
        <p:spPr>
          <a:xfrm>
            <a:off x="5057775" y="948013"/>
            <a:ext cx="3477624" cy="2610021"/>
          </a:xfrm>
          <a:prstGeom prst="borderCallout2">
            <a:avLst>
              <a:gd name="adj1" fmla="val 36200"/>
              <a:gd name="adj2" fmla="val -705"/>
              <a:gd name="adj3" fmla="val 35831"/>
              <a:gd name="adj4" fmla="val -9852"/>
              <a:gd name="adj5" fmla="val 80827"/>
              <a:gd name="adj6" fmla="val -41976"/>
            </a:avLst>
          </a:prstGeom>
          <a:solidFill>
            <a:srgbClr val="F1F1F1"/>
          </a:solidFill>
          <a:ln w="28575">
            <a:solidFill>
              <a:schemeClr val="bg2">
                <a:lumMod val="75000"/>
                <a:lumOff val="25000"/>
              </a:schemeClr>
            </a:solidFill>
          </a:ln>
        </p:spPr>
      </p:pic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8A7DCAB6-4357-D749-7451-BC38825F5887}"/>
              </a:ext>
            </a:extLst>
          </p:cNvPr>
          <p:cNvSpPr/>
          <p:nvPr/>
        </p:nvSpPr>
        <p:spPr>
          <a:xfrm>
            <a:off x="6272733" y="3742560"/>
            <a:ext cx="2168555" cy="240076"/>
          </a:xfrm>
          <a:prstGeom prst="roundRect">
            <a:avLst>
              <a:gd name="adj" fmla="val 7199"/>
            </a:avLst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B689EF52-069C-37FC-EC2E-9D5425C00A70}"/>
              </a:ext>
            </a:extLst>
          </p:cNvPr>
          <p:cNvSpPr/>
          <p:nvPr/>
        </p:nvSpPr>
        <p:spPr>
          <a:xfrm>
            <a:off x="6272732" y="4473533"/>
            <a:ext cx="2168555" cy="240075"/>
          </a:xfrm>
          <a:prstGeom prst="roundRect">
            <a:avLst>
              <a:gd name="adj" fmla="val 7199"/>
            </a:avLst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ACAC414-E273-EFCD-9BAB-7CD5B62A4101}"/>
              </a:ext>
            </a:extLst>
          </p:cNvPr>
          <p:cNvSpPr txBox="1"/>
          <p:nvPr/>
        </p:nvSpPr>
        <p:spPr>
          <a:xfrm>
            <a:off x="5057775" y="4051644"/>
            <a:ext cx="830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States</a:t>
            </a:r>
          </a:p>
        </p:txBody>
      </p:sp>
      <p:sp>
        <p:nvSpPr>
          <p:cNvPr id="219" name="Left Brace 218">
            <a:extLst>
              <a:ext uri="{FF2B5EF4-FFF2-40B4-BE49-F238E27FC236}">
                <a16:creationId xmlns:a16="http://schemas.microsoft.com/office/drawing/2014/main" id="{C3AC4196-8D91-9FA1-C273-FE456ED96F85}"/>
              </a:ext>
            </a:extLst>
          </p:cNvPr>
          <p:cNvSpPr/>
          <p:nvPr/>
        </p:nvSpPr>
        <p:spPr>
          <a:xfrm>
            <a:off x="5898750" y="3667320"/>
            <a:ext cx="247650" cy="1320233"/>
          </a:xfrm>
          <a:prstGeom prst="leftBrace">
            <a:avLst>
              <a:gd name="adj1" fmla="val 71154"/>
              <a:gd name="adj2" fmla="val 50000"/>
            </a:avLst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Google Shape;189;p5">
            <a:extLst>
              <a:ext uri="{FF2B5EF4-FFF2-40B4-BE49-F238E27FC236}">
                <a16:creationId xmlns:a16="http://schemas.microsoft.com/office/drawing/2014/main" id="{D15328D2-F019-320D-25BE-3490C7F2810E}"/>
              </a:ext>
            </a:extLst>
          </p:cNvPr>
          <p:cNvSpPr/>
          <p:nvPr/>
        </p:nvSpPr>
        <p:spPr>
          <a:xfrm>
            <a:off x="2123942" y="1005642"/>
            <a:ext cx="2436975" cy="1399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100" tIns="48025" rIns="96100" bIns="48025" anchor="t" anchorCtr="0">
            <a:noAutofit/>
          </a:bodyPr>
          <a:lstStyle/>
          <a:p>
            <a:pPr algn="ctr">
              <a:buSzPts val="1471"/>
            </a:pP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López-Jiménez et. al., 2024</a:t>
            </a:r>
            <a:endParaRPr lang="en-US" sz="1200"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endParaRPr lang="en-US" sz="5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“Agent-based model predictive control of soil-crop irrigation with topographical information,”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endParaRPr lang="en-US" sz="5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1"/>
              <a:buFont typeface="Arial"/>
              <a:buNone/>
            </a:pP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Engineering Practice, vol. 150, p. 106012, 2024. 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178;p3">
            <a:extLst>
              <a:ext uri="{FF2B5EF4-FFF2-40B4-BE49-F238E27FC236}">
                <a16:creationId xmlns:a16="http://schemas.microsoft.com/office/drawing/2014/main" id="{851D9C17-EEC7-D16F-4DAD-022BB30C8D3F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4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453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BC5345B7-F060-DD03-63BE-1661F3D3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g3e1b453938d_0_4">
            <a:extLst>
              <a:ext uri="{FF2B5EF4-FFF2-40B4-BE49-F238E27FC236}">
                <a16:creationId xmlns:a16="http://schemas.microsoft.com/office/drawing/2014/main" id="{33B30354-BD70-2111-196F-DD6A5F556EC2}"/>
              </a:ext>
            </a:extLst>
          </p:cNvPr>
          <p:cNvSpPr txBox="1"/>
          <p:nvPr/>
        </p:nvSpPr>
        <p:spPr>
          <a:xfrm>
            <a:off x="241800" y="289750"/>
            <a:ext cx="5489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Modeling and Dynamics</a:t>
            </a:r>
            <a:endParaRPr sz="3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55ECE0-0B24-F4D8-3C35-B7608E137DFA}"/>
                  </a:ext>
                </a:extLst>
              </p:cNvPr>
              <p:cNvSpPr txBox="1"/>
              <p:nvPr/>
            </p:nvSpPr>
            <p:spPr>
              <a:xfrm>
                <a:off x="241800" y="983883"/>
                <a:ext cx="5325563" cy="2320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𝑠𝑢𝑟𝑓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55ECE0-0B24-F4D8-3C35-B7608E137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00" y="983883"/>
                <a:ext cx="5325563" cy="23208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EB0E0BF-43A3-85D3-38A3-977DF993D517}"/>
              </a:ext>
            </a:extLst>
          </p:cNvPr>
          <p:cNvSpPr/>
          <p:nvPr/>
        </p:nvSpPr>
        <p:spPr>
          <a:xfrm>
            <a:off x="241800" y="884095"/>
            <a:ext cx="5325563" cy="24896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F80745-41FD-B7C5-FB96-375568EBAB0C}"/>
              </a:ext>
            </a:extLst>
          </p:cNvPr>
          <p:cNvSpPr/>
          <p:nvPr/>
        </p:nvSpPr>
        <p:spPr>
          <a:xfrm>
            <a:off x="241800" y="3499139"/>
            <a:ext cx="5325563" cy="1494630"/>
          </a:xfrm>
          <a:prstGeom prst="roundRect">
            <a:avLst>
              <a:gd name="adj" fmla="val 151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7B22957-C46E-77AF-30B0-B32E47CB5360}"/>
                  </a:ext>
                </a:extLst>
              </p:cNvPr>
              <p:cNvSpPr txBox="1"/>
              <p:nvPr/>
            </p:nvSpPr>
            <p:spPr>
              <a:xfrm>
                <a:off x="300041" y="3574157"/>
                <a:ext cx="3815486" cy="12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Growth function:</a:t>
                </a:r>
                <a:endParaRPr lang="en-US" sz="12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19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func>
                                    <m:func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−0.01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18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19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func>
                                    <m:func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0.01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18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18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7B22957-C46E-77AF-30B0-B32E47CB5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41" y="3574157"/>
                <a:ext cx="3815486" cy="12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E68CF17-9144-8C87-EFD3-85A0DF877B74}"/>
                  </a:ext>
                </a:extLst>
              </p:cNvPr>
              <p:cNvSpPr txBox="1"/>
              <p:nvPr/>
            </p:nvSpPr>
            <p:spPr>
              <a:xfrm>
                <a:off x="5788351" y="843850"/>
                <a:ext cx="2979412" cy="41499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Drought stress: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Waterlogging stress: </a:t>
                </a:r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𝑐𝑙𝑖𝑝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,0,1</m:t>
                          </m:r>
                        </m:e>
                      </m:d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Root zone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Field capacity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drought sensitivity</a:t>
                </a:r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Thermal accumulation: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𝑚𝑒𝑎𝑛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Heat stress: </a:t>
                </a:r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𝑐𝑙𝑖𝑝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,0,1</m:t>
                          </m:r>
                        </m:e>
                      </m:d>
                    </m:oMath>
                  </m:oMathPara>
                </a14:m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 temperature stress: </a:t>
                </a:r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1,  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𝑚𝑒𝑎𝑛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0,  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𝑚𝑒𝑎𝑛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 temperature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heat stress onset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Extreme heat</a:t>
                </a: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E68CF17-9144-8C87-EFD3-85A0DF877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351" y="843850"/>
                <a:ext cx="2979412" cy="4149919"/>
              </a:xfrm>
              <a:prstGeom prst="rect">
                <a:avLst/>
              </a:prstGeom>
              <a:blipFill>
                <a:blip r:embed="rId5"/>
                <a:stretch>
                  <a:fillRect l="-205" b="-16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42EB51-9A90-2D7A-F41C-E4926BA2DE9A}"/>
                  </a:ext>
                </a:extLst>
              </p:cNvPr>
              <p:cNvSpPr txBox="1"/>
              <p:nvPr/>
            </p:nvSpPr>
            <p:spPr>
              <a:xfrm>
                <a:off x="4029077" y="3658603"/>
                <a:ext cx="152542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maturity threshold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maximum interception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GDD at 50% interception</a:t>
                </a: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42EB51-9A90-2D7A-F41C-E4926BA2D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077" y="3658603"/>
                <a:ext cx="1525424" cy="1200329"/>
              </a:xfrm>
              <a:prstGeom prst="rect">
                <a:avLst/>
              </a:prstGeom>
              <a:blipFill>
                <a:blip r:embed="rId6"/>
                <a:stretch>
                  <a:fillRect l="-400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2932797-B5A4-073C-E7AB-FB085769B6FE}"/>
              </a:ext>
            </a:extLst>
          </p:cNvPr>
          <p:cNvSpPr/>
          <p:nvPr/>
        </p:nvSpPr>
        <p:spPr>
          <a:xfrm>
            <a:off x="5681662" y="843850"/>
            <a:ext cx="2979413" cy="4149919"/>
          </a:xfrm>
          <a:prstGeom prst="roundRect">
            <a:avLst>
              <a:gd name="adj" fmla="val 956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Google Shape;178;p3">
            <a:extLst>
              <a:ext uri="{FF2B5EF4-FFF2-40B4-BE49-F238E27FC236}">
                <a16:creationId xmlns:a16="http://schemas.microsoft.com/office/drawing/2014/main" id="{2C6669FC-C484-B441-78D0-428B903751A3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5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286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EF4DD90C-246C-A70A-1D1F-0A7A312A1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1b453938d_0_4">
            <a:extLst>
              <a:ext uri="{FF2B5EF4-FFF2-40B4-BE49-F238E27FC236}">
                <a16:creationId xmlns:a16="http://schemas.microsoft.com/office/drawing/2014/main" id="{A49F8439-A1FA-5B93-6B49-840DCC7103AB}"/>
              </a:ext>
            </a:extLst>
          </p:cNvPr>
          <p:cNvSpPr txBox="1"/>
          <p:nvPr/>
        </p:nvSpPr>
        <p:spPr>
          <a:xfrm>
            <a:off x="241800" y="289750"/>
            <a:ext cx="5489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Modeling and Dynamics</a:t>
            </a:r>
            <a:endParaRPr sz="3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F72F529-4734-8F5B-8679-AACA0E225D37}"/>
                  </a:ext>
                </a:extLst>
              </p:cNvPr>
              <p:cNvSpPr/>
              <p:nvPr/>
            </p:nvSpPr>
            <p:spPr>
              <a:xfrm>
                <a:off x="5806577" y="1054654"/>
                <a:ext cx="2663325" cy="3799096"/>
              </a:xfrm>
              <a:prstGeom prst="roundRect">
                <a:avLst>
                  <a:gd name="adj" fmla="val 15519"/>
                </a:avLst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Water uptake </a:t>
                </a:r>
                <a:r>
                  <a:rPr lang="en-US" sz="1250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coeff</a:t>
                </a:r>
                <a:r>
                  <a:rPr lang="en-US" sz="125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Wilting point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saturation</a:t>
                </a:r>
              </a:p>
              <a:p>
                <a:endParaRPr lang="en-US" sz="12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SCS curve-number threshold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Daily drainage </a:t>
                </a:r>
                <a:r>
                  <a:rPr lang="en-US" sz="125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coeff</a:t>
                </a:r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12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Heat stress maturation rate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Drought stress maturation rate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Radiation use efficiency</a:t>
                </a:r>
                <a:endParaRPr lang="en-US" sz="12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5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percipitation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irrigation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sz="12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sz="12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25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 of lower elevation neighbors</a:t>
                </a:r>
              </a:p>
            </p:txBody>
          </p:sp>
        </mc:Choice>
        <mc:Fallback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F72F529-4734-8F5B-8679-AACA0E225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577" y="1054654"/>
                <a:ext cx="2663325" cy="3799096"/>
              </a:xfrm>
              <a:prstGeom prst="roundRect">
                <a:avLst>
                  <a:gd name="adj" fmla="val 1551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30F8D4-7CDC-638E-EF35-E1ACD05F6D6A}"/>
                  </a:ext>
                </a:extLst>
              </p:cNvPr>
              <p:cNvSpPr txBox="1"/>
              <p:nvPr/>
            </p:nvSpPr>
            <p:spPr>
              <a:xfrm>
                <a:off x="414336" y="1195633"/>
                <a:ext cx="5668464" cy="36581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ahoma" panose="020B0604030504040204" pitchFamily="34" charset="0"/>
                  </a:rPr>
                  <a:t>Infiltration: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𝑠𝑢𝑟𝑓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𝑠𝑎𝑡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ahoma" panose="020B060403050404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ahoma" panose="020B0604030504040204" pitchFamily="34" charset="0"/>
                  </a:rPr>
                  <a:t>Total surface water available: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𝑠𝑢𝑟𝑓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ahoma" panose="020B0604030504040204" pitchFamily="34" charset="0"/>
                  </a:rPr>
                  <a:t>Crop transpiration: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,0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ahoma" panose="020B0604030504040204" pitchFamily="34" charset="0"/>
                  </a:rPr>
                  <a:t>Surface runoff: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𝑠𝑢𝑟𝑓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𝑠𝑢𝑟𝑓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+4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𝑢𝑟𝑓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mr>
                      </m:m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ahoma" panose="020B0604030504040204" pitchFamily="34" charset="0"/>
                  </a:rPr>
                  <a:t>Deep vertical percolation: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𝑡𝑒𝑚𝑝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30F8D4-7CDC-638E-EF35-E1ACD05F6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6" y="1195633"/>
                <a:ext cx="5668464" cy="3658117"/>
              </a:xfrm>
              <a:prstGeom prst="rect">
                <a:avLst/>
              </a:prstGeom>
              <a:blipFill>
                <a:blip r:embed="rId4"/>
                <a:stretch>
                  <a:fillRect l="-323" t="-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DE767B-9E5B-7D7C-AF4B-013594796FDC}"/>
              </a:ext>
            </a:extLst>
          </p:cNvPr>
          <p:cNvSpPr/>
          <p:nvPr/>
        </p:nvSpPr>
        <p:spPr>
          <a:xfrm>
            <a:off x="266700" y="1054654"/>
            <a:ext cx="5387475" cy="3799095"/>
          </a:xfrm>
          <a:prstGeom prst="roundRect">
            <a:avLst>
              <a:gd name="adj" fmla="val 12279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Google Shape;178;p3">
            <a:extLst>
              <a:ext uri="{FF2B5EF4-FFF2-40B4-BE49-F238E27FC236}">
                <a16:creationId xmlns:a16="http://schemas.microsoft.com/office/drawing/2014/main" id="{F18CEFED-1F55-8A9E-496E-D1720EBC6AC4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6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029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C4A3352B-54C9-BD1C-FA34-2D3A2063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>
            <a:extLst>
              <a:ext uri="{FF2B5EF4-FFF2-40B4-BE49-F238E27FC236}">
                <a16:creationId xmlns:a16="http://schemas.microsoft.com/office/drawing/2014/main" id="{3376FC6C-D1BC-3E1C-8229-C160900D9E9D}"/>
              </a:ext>
            </a:extLst>
          </p:cNvPr>
          <p:cNvSpPr txBox="1"/>
          <p:nvPr/>
        </p:nvSpPr>
        <p:spPr>
          <a:xfrm>
            <a:off x="365760" y="333065"/>
            <a:ext cx="836842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2667"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Problem Overview</a:t>
            </a: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EA75DF2-3FCA-12F2-F6EA-303F14F21AAE}"/>
              </a:ext>
            </a:extLst>
          </p:cNvPr>
          <p:cNvGrpSpPr/>
          <p:nvPr/>
        </p:nvGrpSpPr>
        <p:grpSpPr>
          <a:xfrm>
            <a:off x="466423" y="987149"/>
            <a:ext cx="4051112" cy="3967339"/>
            <a:chOff x="436447" y="1014784"/>
            <a:chExt cx="3906202" cy="396733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7465CC-F851-AF89-9558-013049746706}"/>
                </a:ext>
              </a:extLst>
            </p:cNvPr>
            <p:cNvCxnSpPr>
              <a:cxnSpLocks/>
            </p:cNvCxnSpPr>
            <p:nvPr/>
          </p:nvCxnSpPr>
          <p:spPr>
            <a:xfrm>
              <a:off x="1305764" y="3324152"/>
              <a:ext cx="333375" cy="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2" name="Picture 1" descr="Soil-Water Status: Saturation, Field Capacity and Wilting ...">
              <a:extLst>
                <a:ext uri="{FF2B5EF4-FFF2-40B4-BE49-F238E27FC236}">
                  <a16:creationId xmlns:a16="http://schemas.microsoft.com/office/drawing/2014/main" id="{A8D60EBA-E775-9CC1-FA2A-866EDFD0C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68" t="10113" r="66785" b="42275"/>
            <a:stretch>
              <a:fillRect/>
            </a:stretch>
          </p:blipFill>
          <p:spPr>
            <a:xfrm>
              <a:off x="658804" y="1142240"/>
              <a:ext cx="439392" cy="5348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Picture 25" descr="Soil-Water Status: Saturation, Field Capacity and Wilting ...">
              <a:extLst>
                <a:ext uri="{FF2B5EF4-FFF2-40B4-BE49-F238E27FC236}">
                  <a16:creationId xmlns:a16="http://schemas.microsoft.com/office/drawing/2014/main" id="{6CB0701A-9EEA-CDCB-82CB-099BF32CA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327" t="10963" r="35326" b="47278"/>
            <a:stretch>
              <a:fillRect/>
            </a:stretch>
          </p:blipFill>
          <p:spPr>
            <a:xfrm>
              <a:off x="652782" y="2769672"/>
              <a:ext cx="445414" cy="4754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Picture 26" descr="Soil-Water Status: Saturation, Field Capacity and Wilting ...">
              <a:extLst>
                <a:ext uri="{FF2B5EF4-FFF2-40B4-BE49-F238E27FC236}">
                  <a16:creationId xmlns:a16="http://schemas.microsoft.com/office/drawing/2014/main" id="{9FF3776A-77DE-E928-BAE7-C1B36DDC2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5775" t="11156" r="4878" b="48195"/>
            <a:stretch>
              <a:fillRect/>
            </a:stretch>
          </p:blipFill>
          <p:spPr>
            <a:xfrm>
              <a:off x="652782" y="4367446"/>
              <a:ext cx="457568" cy="4754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61F8B18-65EB-13A3-5ACC-392963EF5433}"/>
                </a:ext>
              </a:extLst>
            </p:cNvPr>
            <p:cNvCxnSpPr>
              <a:cxnSpLocks/>
            </p:cNvCxnSpPr>
            <p:nvPr/>
          </p:nvCxnSpPr>
          <p:spPr>
            <a:xfrm>
              <a:off x="1297827" y="1409643"/>
              <a:ext cx="3333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98B0555-0A84-EA10-025F-8521704B7F45}"/>
                </a:ext>
              </a:extLst>
            </p:cNvPr>
            <p:cNvCxnSpPr>
              <a:cxnSpLocks/>
            </p:cNvCxnSpPr>
            <p:nvPr/>
          </p:nvCxnSpPr>
          <p:spPr>
            <a:xfrm>
              <a:off x="1472452" y="1409643"/>
              <a:ext cx="0" cy="3195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ACD446-4828-40A1-9FB5-E7767A4619B1}"/>
                </a:ext>
              </a:extLst>
            </p:cNvPr>
            <p:cNvCxnSpPr>
              <a:cxnSpLocks/>
            </p:cNvCxnSpPr>
            <p:nvPr/>
          </p:nvCxnSpPr>
          <p:spPr>
            <a:xfrm>
              <a:off x="1305764" y="3004241"/>
              <a:ext cx="3333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0F12283-8C40-83C3-5EB3-A936F432E17D}"/>
                </a:ext>
              </a:extLst>
            </p:cNvPr>
            <p:cNvCxnSpPr>
              <a:cxnSpLocks/>
            </p:cNvCxnSpPr>
            <p:nvPr/>
          </p:nvCxnSpPr>
          <p:spPr>
            <a:xfrm>
              <a:off x="1305764" y="4605188"/>
              <a:ext cx="3333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BAC2C3F-3E86-9D6A-70C9-473E8DE7E621}"/>
                </a:ext>
              </a:extLst>
            </p:cNvPr>
            <p:cNvSpPr txBox="1"/>
            <p:nvPr/>
          </p:nvSpPr>
          <p:spPr>
            <a:xfrm>
              <a:off x="1651579" y="1255754"/>
              <a:ext cx="101917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Saturation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FFB7B56-9D9A-660F-C819-48CE856827DB}"/>
                </a:ext>
              </a:extLst>
            </p:cNvPr>
            <p:cNvSpPr txBox="1"/>
            <p:nvPr/>
          </p:nvSpPr>
          <p:spPr>
            <a:xfrm>
              <a:off x="1639139" y="2844566"/>
              <a:ext cx="131286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Field Capacity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9FE4591-0920-B31C-B6E5-1BC56C5D7800}"/>
                </a:ext>
              </a:extLst>
            </p:cNvPr>
            <p:cNvSpPr txBox="1"/>
            <p:nvPr/>
          </p:nvSpPr>
          <p:spPr>
            <a:xfrm>
              <a:off x="1647078" y="3170263"/>
              <a:ext cx="164464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Stress Threshold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913297E-A854-B60E-B3A4-225D89B894D3}"/>
                </a:ext>
              </a:extLst>
            </p:cNvPr>
            <p:cNvSpPr txBox="1"/>
            <p:nvPr/>
          </p:nvSpPr>
          <p:spPr>
            <a:xfrm>
              <a:off x="1647078" y="4451299"/>
              <a:ext cx="120967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Wilting Point</a:t>
              </a:r>
            </a:p>
          </p:txBody>
        </p:sp>
        <p:sp>
          <p:nvSpPr>
            <p:cNvPr id="53" name="Arrow: Up-Down 52">
              <a:extLst>
                <a:ext uri="{FF2B5EF4-FFF2-40B4-BE49-F238E27FC236}">
                  <a16:creationId xmlns:a16="http://schemas.microsoft.com/office/drawing/2014/main" id="{D9110A96-B3ED-C137-0CBB-3F9F4E972D46}"/>
                </a:ext>
              </a:extLst>
            </p:cNvPr>
            <p:cNvSpPr/>
            <p:nvPr/>
          </p:nvSpPr>
          <p:spPr>
            <a:xfrm>
              <a:off x="2101640" y="1613244"/>
              <a:ext cx="119052" cy="1167520"/>
            </a:xfrm>
            <a:prstGeom prst="up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9C26541-FDBA-84DA-5ADC-CC0E1EF1BFCA}"/>
                </a:ext>
              </a:extLst>
            </p:cNvPr>
            <p:cNvSpPr txBox="1"/>
            <p:nvPr/>
          </p:nvSpPr>
          <p:spPr>
            <a:xfrm>
              <a:off x="2272548" y="1938209"/>
              <a:ext cx="1019175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Waterlog Stress</a:t>
              </a:r>
            </a:p>
          </p:txBody>
        </p:sp>
        <p:sp>
          <p:nvSpPr>
            <p:cNvPr id="57" name="Arrow: Up-Down 56">
              <a:extLst>
                <a:ext uri="{FF2B5EF4-FFF2-40B4-BE49-F238E27FC236}">
                  <a16:creationId xmlns:a16="http://schemas.microsoft.com/office/drawing/2014/main" id="{E9598991-62BB-0393-850D-6599892ED326}"/>
                </a:ext>
              </a:extLst>
            </p:cNvPr>
            <p:cNvSpPr/>
            <p:nvPr/>
          </p:nvSpPr>
          <p:spPr>
            <a:xfrm>
              <a:off x="2093741" y="3519057"/>
              <a:ext cx="119039" cy="948899"/>
            </a:xfrm>
            <a:prstGeom prst="up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3974359-5647-5B06-28E7-6D35C6209C40}"/>
                </a:ext>
              </a:extLst>
            </p:cNvPr>
            <p:cNvSpPr txBox="1"/>
            <p:nvPr/>
          </p:nvSpPr>
          <p:spPr>
            <a:xfrm>
              <a:off x="2270702" y="3663654"/>
              <a:ext cx="1019175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Drought Stress</a:t>
              </a:r>
            </a:p>
          </p:txBody>
        </p:sp>
        <p:sp>
          <p:nvSpPr>
            <p:cNvPr id="60" name="Right Brace 59">
              <a:extLst>
                <a:ext uri="{FF2B5EF4-FFF2-40B4-BE49-F238E27FC236}">
                  <a16:creationId xmlns:a16="http://schemas.microsoft.com/office/drawing/2014/main" id="{790D0D99-2723-A049-B2CB-CC55FAF4EA91}"/>
                </a:ext>
              </a:extLst>
            </p:cNvPr>
            <p:cNvSpPr/>
            <p:nvPr/>
          </p:nvSpPr>
          <p:spPr>
            <a:xfrm>
              <a:off x="3247277" y="2952750"/>
              <a:ext cx="85713" cy="37140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789D113-FFE3-BDB0-D48A-D6698FB7CE8D}"/>
                </a:ext>
              </a:extLst>
            </p:cNvPr>
            <p:cNvSpPr txBox="1"/>
            <p:nvPr/>
          </p:nvSpPr>
          <p:spPr>
            <a:xfrm>
              <a:off x="3323474" y="2890733"/>
              <a:ext cx="1019175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Desired Zone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C66AEBC-91A2-DDA8-C537-A84743AC27AE}"/>
                </a:ext>
              </a:extLst>
            </p:cNvPr>
            <p:cNvSpPr/>
            <p:nvPr/>
          </p:nvSpPr>
          <p:spPr>
            <a:xfrm>
              <a:off x="436447" y="1014784"/>
              <a:ext cx="3856154" cy="3967339"/>
            </a:xfrm>
            <a:prstGeom prst="roundRect">
              <a:avLst>
                <a:gd name="adj" fmla="val 741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C04C730B-0C03-3117-D752-31175E278F74}"/>
              </a:ext>
            </a:extLst>
          </p:cNvPr>
          <p:cNvSpPr/>
          <p:nvPr/>
        </p:nvSpPr>
        <p:spPr>
          <a:xfrm>
            <a:off x="5603622" y="3853828"/>
            <a:ext cx="1801227" cy="331900"/>
          </a:xfrm>
          <a:prstGeom prst="roundRect">
            <a:avLst/>
          </a:prstGeom>
          <a:noFill/>
          <a:ln>
            <a:solidFill>
              <a:schemeClr val="bg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Model Predictive Controller</a:t>
            </a: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A9626F29-B801-1B74-E063-920D048A07C1}"/>
              </a:ext>
            </a:extLst>
          </p:cNvPr>
          <p:cNvSpPr/>
          <p:nvPr/>
        </p:nvSpPr>
        <p:spPr>
          <a:xfrm>
            <a:off x="4756840" y="3424249"/>
            <a:ext cx="1747395" cy="331901"/>
          </a:xfrm>
          <a:prstGeom prst="roundRect">
            <a:avLst/>
          </a:prstGeom>
          <a:noFill/>
          <a:ln>
            <a:solidFill>
              <a:schemeClr val="bg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Fixed-Schedule Controller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C4F348C7-3842-12D8-81E7-88AB8772AF71}"/>
              </a:ext>
            </a:extLst>
          </p:cNvPr>
          <p:cNvSpPr/>
          <p:nvPr/>
        </p:nvSpPr>
        <p:spPr>
          <a:xfrm>
            <a:off x="6582463" y="3422826"/>
            <a:ext cx="1697949" cy="333324"/>
          </a:xfrm>
          <a:prstGeom prst="roundRect">
            <a:avLst/>
          </a:prstGeom>
          <a:noFill/>
          <a:ln>
            <a:solidFill>
              <a:schemeClr val="bg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Reactive Controller</a:t>
            </a: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829DFD08-8CAF-D61F-3ADD-3BD2CE7DC18E}"/>
              </a:ext>
            </a:extLst>
          </p:cNvPr>
          <p:cNvSpPr/>
          <p:nvPr/>
        </p:nvSpPr>
        <p:spPr>
          <a:xfrm>
            <a:off x="4886163" y="4279351"/>
            <a:ext cx="1587876" cy="589022"/>
          </a:xfrm>
          <a:prstGeom prst="roundRect">
            <a:avLst/>
          </a:prstGeom>
          <a:noFill/>
          <a:ln>
            <a:solidFill>
              <a:schemeClr val="bg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Soft Actor-Critic Controller (SAC)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EAA49E1C-84E9-4693-FDC3-D2DA5062365B}"/>
              </a:ext>
            </a:extLst>
          </p:cNvPr>
          <p:cNvSpPr/>
          <p:nvPr/>
        </p:nvSpPr>
        <p:spPr>
          <a:xfrm>
            <a:off x="6574697" y="4272196"/>
            <a:ext cx="1713479" cy="589022"/>
          </a:xfrm>
          <a:prstGeom prst="roundRect">
            <a:avLst/>
          </a:prstGeom>
          <a:noFill/>
          <a:ln>
            <a:solidFill>
              <a:schemeClr val="bg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Twin Delayed Deep Deterministic Policy Gradient (TD3)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8FEC9E00-A735-2011-01BB-86C1E92A920A}"/>
              </a:ext>
            </a:extLst>
          </p:cNvPr>
          <p:cNvSpPr/>
          <p:nvPr/>
        </p:nvSpPr>
        <p:spPr>
          <a:xfrm>
            <a:off x="4594287" y="3334448"/>
            <a:ext cx="3999207" cy="162004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228" name="Picture 227">
            <a:extLst>
              <a:ext uri="{FF2B5EF4-FFF2-40B4-BE49-F238E27FC236}">
                <a16:creationId xmlns:a16="http://schemas.microsoft.com/office/drawing/2014/main" id="{ECE51150-1B3F-A4FB-0642-25B647A0B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287" y="987012"/>
            <a:ext cx="3999207" cy="2226315"/>
          </a:xfrm>
          <a:prstGeom prst="roundRect">
            <a:avLst>
              <a:gd name="adj" fmla="val 13294"/>
            </a:avLst>
          </a:prstGeom>
        </p:spPr>
      </p:pic>
      <p:sp>
        <p:nvSpPr>
          <p:cNvPr id="230" name="Google Shape;178;p3">
            <a:extLst>
              <a:ext uri="{FF2B5EF4-FFF2-40B4-BE49-F238E27FC236}">
                <a16:creationId xmlns:a16="http://schemas.microsoft.com/office/drawing/2014/main" id="{4402631F-FF59-B222-8CBA-D4021BF122F0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7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9976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5;p11">
            <a:extLst>
              <a:ext uri="{FF2B5EF4-FFF2-40B4-BE49-F238E27FC236}">
                <a16:creationId xmlns:a16="http://schemas.microsoft.com/office/drawing/2014/main" id="{6FA003C1-C872-12E5-0A0F-662F0DF5DF2C}"/>
              </a:ext>
            </a:extLst>
          </p:cNvPr>
          <p:cNvSpPr txBox="1"/>
          <p:nvPr/>
        </p:nvSpPr>
        <p:spPr>
          <a:xfrm>
            <a:off x="365760" y="333065"/>
            <a:ext cx="836842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2667"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 Controllers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D1823-F9CF-3719-0109-37D7EF0F9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41762"/>
            <a:ext cx="4040250" cy="2065960"/>
          </a:xfrm>
          <a:prstGeom prst="round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E0D1C2-9908-BB6E-FF3D-71565E55E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785" y="1430627"/>
            <a:ext cx="4052015" cy="3472070"/>
          </a:xfrm>
          <a:prstGeom prst="roundRect">
            <a:avLst>
              <a:gd name="adj" fmla="val 8508"/>
            </a:avLst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89FBBC-DD55-CAD3-1BE9-8BB19CD16A0E}"/>
              </a:ext>
            </a:extLst>
          </p:cNvPr>
          <p:cNvSpPr txBox="1"/>
          <p:nvPr/>
        </p:nvSpPr>
        <p:spPr>
          <a:xfrm>
            <a:off x="4634784" y="993785"/>
            <a:ext cx="4052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Reactive Controller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C56E2-3FDD-F40D-AEF5-BB1423C09B7B}"/>
              </a:ext>
            </a:extLst>
          </p:cNvPr>
          <p:cNvSpPr txBox="1"/>
          <p:nvPr/>
        </p:nvSpPr>
        <p:spPr>
          <a:xfrm>
            <a:off x="365760" y="993785"/>
            <a:ext cx="4040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Fixed-Schedule Controller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306390-4914-1B4B-E70D-8DDF6BB9A71A}"/>
              </a:ext>
            </a:extLst>
          </p:cNvPr>
          <p:cNvCxnSpPr>
            <a:cxnSpLocks/>
          </p:cNvCxnSpPr>
          <p:nvPr/>
        </p:nvCxnSpPr>
        <p:spPr>
          <a:xfrm>
            <a:off x="4509216" y="993785"/>
            <a:ext cx="0" cy="39051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395CEA-573B-DFDF-F5F1-A1699E57179D}"/>
                  </a:ext>
                </a:extLst>
              </p:cNvPr>
              <p:cNvSpPr txBox="1"/>
              <p:nvPr/>
            </p:nvSpPr>
            <p:spPr>
              <a:xfrm>
                <a:off x="365760" y="1496437"/>
                <a:ext cx="4017888" cy="1240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=19</m:t>
                      </m:r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𝑓𝑖𝑥𝑒𝑑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𝑡𝑜𝑡𝑎𝑙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395CEA-573B-DFDF-F5F1-A1699E571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496437"/>
                <a:ext cx="4017888" cy="1240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78;p3">
            <a:extLst>
              <a:ext uri="{FF2B5EF4-FFF2-40B4-BE49-F238E27FC236}">
                <a16:creationId xmlns:a16="http://schemas.microsoft.com/office/drawing/2014/main" id="{50432194-8DB1-6DF9-60AE-FE626E047AAD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8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828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3503-C917-6340-6F15-D2F8630A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03;p8">
            <a:extLst>
              <a:ext uri="{FF2B5EF4-FFF2-40B4-BE49-F238E27FC236}">
                <a16:creationId xmlns:a16="http://schemas.microsoft.com/office/drawing/2014/main" id="{8D1AAFE2-BCFE-4810-F719-A092B25CE605}"/>
              </a:ext>
            </a:extLst>
          </p:cNvPr>
          <p:cNvSpPr txBox="1"/>
          <p:nvPr/>
        </p:nvSpPr>
        <p:spPr>
          <a:xfrm>
            <a:off x="303846" y="309209"/>
            <a:ext cx="845766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MPC Problem Statement</a:t>
            </a:r>
            <a:endParaRPr sz="3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Google Shape;204;p8">
                <a:extLst>
                  <a:ext uri="{FF2B5EF4-FFF2-40B4-BE49-F238E27FC236}">
                    <a16:creationId xmlns:a16="http://schemas.microsoft.com/office/drawing/2014/main" id="{4512E243-7597-AEAC-4718-7ADCFE4D3FAE}"/>
                  </a:ext>
                </a:extLst>
              </p:cNvPr>
              <p:cNvSpPr/>
              <p:nvPr/>
            </p:nvSpPr>
            <p:spPr>
              <a:xfrm>
                <a:off x="5881594" y="1910425"/>
                <a:ext cx="2879911" cy="655259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noFill/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𝑜𝑣𝑒𝑟𝐹𝐶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5,   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i="0" u="none" strike="noStrike" cap="none" dirty="0">
                  <a:solidFill>
                    <a:schemeClr val="tx1"/>
                  </a:solidFill>
                  <a:sym typeface="Arial"/>
                </a:endParaRPr>
              </a:p>
            </p:txBody>
          </p:sp>
        </mc:Choice>
        <mc:Fallback>
          <p:sp>
            <p:nvSpPr>
              <p:cNvPr id="24" name="Google Shape;204;p8">
                <a:extLst>
                  <a:ext uri="{FF2B5EF4-FFF2-40B4-BE49-F238E27FC236}">
                    <a16:creationId xmlns:a16="http://schemas.microsoft.com/office/drawing/2014/main" id="{4512E243-7597-AEAC-4718-7ADCFE4D3F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594" y="1910425"/>
                <a:ext cx="2879911" cy="655259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blipFill>
                <a:blip r:embed="rId2"/>
                <a:stretch>
                  <a:fillRect/>
                </a:stretch>
              </a:blipFill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Google Shape;204;p8">
                <a:extLst>
                  <a:ext uri="{FF2B5EF4-FFF2-40B4-BE49-F238E27FC236}">
                    <a16:creationId xmlns:a16="http://schemas.microsoft.com/office/drawing/2014/main" id="{7BC10553-E7FB-F6D2-9FF0-EC1E0B475047}"/>
                  </a:ext>
                </a:extLst>
              </p:cNvPr>
              <p:cNvSpPr/>
              <p:nvPr/>
            </p:nvSpPr>
            <p:spPr>
              <a:xfrm>
                <a:off x="355780" y="1919183"/>
                <a:ext cx="2603499" cy="646501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noFill/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𝐽</m:t>
                          </m:r>
                        </m:e>
                        <m:sub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𝑏𝑖𝑜𝑚𝑎𝑠𝑠</m:t>
                          </m:r>
                        </m:sub>
                      </m:sSub>
                      <m:r>
                        <a:rPr lang="en-US" sz="12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𝑁</m:t>
                          </m:r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4,   </m:t>
                              </m:r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𝑛</m:t>
                          </m:r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SupPr>
                            <m:e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b="0" i="1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</p:txBody>
          </p:sp>
        </mc:Choice>
        <mc:Fallback>
          <p:sp>
            <p:nvSpPr>
              <p:cNvPr id="26" name="Google Shape;204;p8">
                <a:extLst>
                  <a:ext uri="{FF2B5EF4-FFF2-40B4-BE49-F238E27FC236}">
                    <a16:creationId xmlns:a16="http://schemas.microsoft.com/office/drawing/2014/main" id="{7BC10553-E7FB-F6D2-9FF0-EC1E0B4750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80" y="1919183"/>
                <a:ext cx="2603499" cy="646501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Google Shape;204;p8">
                <a:extLst>
                  <a:ext uri="{FF2B5EF4-FFF2-40B4-BE49-F238E27FC236}">
                    <a16:creationId xmlns:a16="http://schemas.microsoft.com/office/drawing/2014/main" id="{E623E3CF-1CB0-251E-B740-ABDFCABF07C7}"/>
                  </a:ext>
                </a:extLst>
              </p:cNvPr>
              <p:cNvSpPr/>
              <p:nvPr/>
            </p:nvSpPr>
            <p:spPr>
              <a:xfrm>
                <a:off x="355780" y="2645210"/>
                <a:ext cx="4498107" cy="646501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noFill/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𝑑𝑟𝑜𝑢𝑔h𝑡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𝑆𝑇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𝑊𝑃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𝑠𝑚𝑎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𝑆𝑇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8" name="Google Shape;204;p8">
                <a:extLst>
                  <a:ext uri="{FF2B5EF4-FFF2-40B4-BE49-F238E27FC236}">
                    <a16:creationId xmlns:a16="http://schemas.microsoft.com/office/drawing/2014/main" id="{E623E3CF-1CB0-251E-B740-ABDFCABF0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80" y="2645210"/>
                <a:ext cx="4498107" cy="646501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blipFill>
                <a:blip r:embed="rId4"/>
                <a:stretch>
                  <a:fillRect/>
                </a:stretch>
              </a:blipFill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Google Shape;204;p8">
                <a:extLst>
                  <a:ext uri="{FF2B5EF4-FFF2-40B4-BE49-F238E27FC236}">
                    <a16:creationId xmlns:a16="http://schemas.microsoft.com/office/drawing/2014/main" id="{A51DF064-32AE-06BC-B4D8-865613A1FE72}"/>
                  </a:ext>
                </a:extLst>
              </p:cNvPr>
              <p:cNvSpPr/>
              <p:nvPr/>
            </p:nvSpPr>
            <p:spPr>
              <a:xfrm>
                <a:off x="4916668" y="2636452"/>
                <a:ext cx="3838712" cy="655259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noFill/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" name="Google Shape;204;p8">
                <a:extLst>
                  <a:ext uri="{FF2B5EF4-FFF2-40B4-BE49-F238E27FC236}">
                    <a16:creationId xmlns:a16="http://schemas.microsoft.com/office/drawing/2014/main" id="{A51DF064-32AE-06BC-B4D8-865613A1FE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668" y="2636452"/>
                <a:ext cx="3838712" cy="655259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blipFill>
                <a:blip r:embed="rId5"/>
                <a:stretch>
                  <a:fillRect/>
                </a:stretch>
              </a:blipFill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Google Shape;204;p8">
                <a:extLst>
                  <a:ext uri="{FF2B5EF4-FFF2-40B4-BE49-F238E27FC236}">
                    <a16:creationId xmlns:a16="http://schemas.microsoft.com/office/drawing/2014/main" id="{7B762765-BE22-EBFC-1056-505C442C434A}"/>
                  </a:ext>
                </a:extLst>
              </p:cNvPr>
              <p:cNvSpPr/>
              <p:nvPr/>
            </p:nvSpPr>
            <p:spPr>
              <a:xfrm>
                <a:off x="3036973" y="1910427"/>
                <a:ext cx="2791191" cy="646500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noFill/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𝐽</m:t>
                          </m:r>
                        </m:e>
                        <m:sub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𝑤𝑎𝑡𝑒𝑟</m:t>
                          </m:r>
                        </m:sub>
                      </m:sSub>
                      <m:r>
                        <a:rPr lang="en-US" sz="12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𝑁</m:t>
                          </m:r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=</m:t>
                          </m:r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2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𝑛</m:t>
                              </m:r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i="1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</p:txBody>
          </p:sp>
        </mc:Choice>
        <mc:Fallback>
          <p:sp>
            <p:nvSpPr>
              <p:cNvPr id="32" name="Google Shape;204;p8">
                <a:extLst>
                  <a:ext uri="{FF2B5EF4-FFF2-40B4-BE49-F238E27FC236}">
                    <a16:creationId xmlns:a16="http://schemas.microsoft.com/office/drawing/2014/main" id="{7B762765-BE22-EBFC-1056-505C442C43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973" y="1910427"/>
                <a:ext cx="2791191" cy="646500"/>
              </a:xfrm>
              <a:prstGeom prst="round2SameRect">
                <a:avLst>
                  <a:gd name="adj1" fmla="val 10146"/>
                  <a:gd name="adj2" fmla="val 8115"/>
                </a:avLst>
              </a:prstGeom>
              <a:blipFill>
                <a:blip r:embed="rId6"/>
                <a:stretch>
                  <a:fillRect/>
                </a:stretch>
              </a:blipFill>
              <a:ln w="9525" cap="flat" cmpd="sng">
                <a:solidFill>
                  <a:schemeClr val="bg1">
                    <a:lumMod val="20000"/>
                    <a:lumOff val="8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D79530-50BE-6374-ECB8-DDA36EE86B77}"/>
                  </a:ext>
                </a:extLst>
              </p:cNvPr>
              <p:cNvSpPr txBox="1"/>
              <p:nvPr/>
            </p:nvSpPr>
            <p:spPr>
              <a:xfrm>
                <a:off x="330559" y="848415"/>
                <a:ext cx="8457661" cy="942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SzPts val="1400"/>
                </a:pPr>
                <a:r>
                  <a:rPr lang="en-US" sz="1400" b="0" i="0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OBJECTIVE:</a:t>
                </a:r>
              </a:p>
              <a:p>
                <a:pPr lvl="0">
                  <a:buSzPts val="1400"/>
                </a:pPr>
                <a:endParaRPr lang="en-US" sz="500" b="0" i="0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ea typeface="Arial"/>
                  <a:cs typeface="Arial"/>
                  <a:sym typeface="Arial"/>
                </a:endParaRPr>
              </a:p>
              <a:p>
                <a:pPr lvl="0">
                  <a:buSzPts val="1400"/>
                </a:pPr>
                <a:r>
                  <a:rPr lang="en-US" sz="1400" b="0" i="0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At each timestep k, find the control sequence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𝑈</m:t>
                        </m:r>
                      </m:e>
                      <m:sup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dPr>
                      <m:e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𝑘</m:t>
                        </m:r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:</m:t>
                        </m:r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𝑘</m:t>
                        </m:r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u="none" strike="noStrike" cap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400" b="0" i="1" u="none" strike="noStrike" cap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b="0" i="1" u="none" strike="noStrike" cap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𝑝</m:t>
                            </m:r>
                          </m:sub>
                        </m:sSub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400" b="0" i="0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 that minimizes the cost function:</a:t>
                </a:r>
              </a:p>
              <a:p>
                <a:pPr lvl="0">
                  <a:buSzPts val="1400"/>
                </a:pPr>
                <a:endParaRPr lang="en-US" sz="500" b="0" i="0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ea typeface="Arial"/>
                  <a:cs typeface="Arial"/>
                  <a:sym typeface="Arial"/>
                </a:endParaRPr>
              </a:p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=−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⋅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𝐽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𝑏𝑖𝑜𝑚𝑎𝑠𝑠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⋅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𝐽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𝑤𝑎𝑡𝑒𝑟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3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⋅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𝐽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𝑑𝑟𝑜𝑢𝑔h𝑡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5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 ⋅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Δu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6</m:t>
                          </m:r>
                        </m:sub>
                      </m:sSub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⋅</m:t>
                      </m:r>
                      <m:sSub>
                        <m:sSub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𝐽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𝑜𝑣𝑒𝑟𝐹𝐶</m:t>
                          </m:r>
                        </m:sub>
                      </m:sSub>
                    </m:oMath>
                  </m:oMathPara>
                </a14:m>
                <a:endParaRPr lang="en-US" sz="1400" b="0" i="1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D79530-50BE-6374-ECB8-DDA36EE8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59" y="848415"/>
                <a:ext cx="8457661" cy="942053"/>
              </a:xfrm>
              <a:prstGeom prst="rect">
                <a:avLst/>
              </a:prstGeom>
              <a:blipFill>
                <a:blip r:embed="rId7"/>
                <a:stretch>
                  <a:fillRect l="-216" t="-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6C8B955-6E2D-461E-D91E-DECDA543F6B1}"/>
                  </a:ext>
                </a:extLst>
              </p:cNvPr>
              <p:cNvSpPr txBox="1"/>
              <p:nvPr/>
            </p:nvSpPr>
            <p:spPr>
              <a:xfrm>
                <a:off x="330559" y="3371236"/>
                <a:ext cx="8418696" cy="1560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spcBef>
                    <a:spcPts val="600"/>
                  </a:spcBef>
                  <a:buSzPts val="1400"/>
                </a:pPr>
                <a:r>
                  <a:rPr lang="en-US" b="0" i="1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sym typeface="Arial"/>
                  </a:rPr>
                  <a:t>CONSTRAINTS: </a:t>
                </a:r>
                <a:endParaRPr lang="en-US" sz="500" b="0" i="1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 lvl="0">
                  <a:lnSpc>
                    <a:spcPct val="114000"/>
                  </a:lnSpc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  <m:sup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+1</m:t>
                          </m:r>
                        </m:e>
                      </m:d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𝑓</m:t>
                      </m:r>
                      <m:d>
                        <m:dPr>
                          <m:ctrlP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𝑛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𝑛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,</m:t>
                          </m:r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𝑤</m:t>
                          </m:r>
                          <m:d>
                            <m:dPr>
                              <m:ctrlP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;</m:t>
                          </m:r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Arial"/>
                            </a:rPr>
                            <m:t>𝒢</m:t>
                          </m:r>
                        </m:e>
                      </m:d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𝑛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=1,…,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𝑁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𝑗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𝑘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,…,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𝑘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𝐻</m:t>
                          </m:r>
                        </m:e>
                        <m:sub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𝑝</m:t>
                          </m:r>
                        </m:sub>
                      </m:sSub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−1</m:t>
                      </m:r>
                    </m:oMath>
                  </m:oMathPara>
                </a14:m>
                <a:endParaRPr lang="en-US" b="0" i="1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 lvl="0">
                  <a:lnSpc>
                    <a:spcPct val="114000"/>
                  </a:lnSpc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0≤</m:t>
                      </m:r>
                      <m:sSup>
                        <m:sSupPr>
                          <m:ctrlP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𝑢</m:t>
                          </m:r>
                        </m:e>
                        <m:sup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𝑛</m:t>
                          </m:r>
                        </m:sup>
                      </m:sSup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≤</m:t>
                      </m:r>
                      <m:sSub>
                        <m:sSubPr>
                          <m:ctrlP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𝑢</m:t>
                          </m:r>
                        </m:e>
                        <m:sub>
                          <m:r>
                            <a:rPr lang="en-US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𝑚𝑎𝑥</m:t>
                          </m:r>
                        </m:sub>
                      </m:sSub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,  ∀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𝑛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,∀</m:t>
                      </m:r>
                      <m:r>
                        <a:rPr lang="en-US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𝑗</m:t>
                      </m:r>
                    </m:oMath>
                  </m:oMathPara>
                </a14:m>
                <a:endParaRPr lang="en-US" b="0" i="1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 lvl="0">
                  <a:lnSpc>
                    <a:spcPct val="114000"/>
                  </a:lnSpc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𝑟𝑒𝑚𝑎𝑖𝑛𝑖𝑛𝑔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6C8B955-6E2D-461E-D91E-DECDA543F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59" y="3371236"/>
                <a:ext cx="8418696" cy="1560427"/>
              </a:xfrm>
              <a:prstGeom prst="rect">
                <a:avLst/>
              </a:prstGeom>
              <a:blipFill>
                <a:blip r:embed="rId8"/>
                <a:stretch>
                  <a:fillRect l="-217" t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Google Shape;178;p3">
            <a:extLst>
              <a:ext uri="{FF2B5EF4-FFF2-40B4-BE49-F238E27FC236}">
                <a16:creationId xmlns:a16="http://schemas.microsoft.com/office/drawing/2014/main" id="{E87DACA7-7EE4-2DD7-2A68-E766B1E46300}"/>
              </a:ext>
            </a:extLst>
          </p:cNvPr>
          <p:cNvSpPr txBox="1"/>
          <p:nvPr/>
        </p:nvSpPr>
        <p:spPr>
          <a:xfrm>
            <a:off x="8633460" y="4800600"/>
            <a:ext cx="2438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9</a:t>
            </a:r>
            <a:endParaRPr sz="1400" b="0" i="0" u="none" strike="noStrike" cap="none" dirty="0">
              <a:solidFill>
                <a:schemeClr val="tx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694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6536B-686E-B281-6A79-864D58C3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>
            <a:extLst>
              <a:ext uri="{FF2B5EF4-FFF2-40B4-BE49-F238E27FC236}">
                <a16:creationId xmlns:a16="http://schemas.microsoft.com/office/drawing/2014/main" id="{7D825751-E403-231E-4243-B595AC05D8DB}"/>
              </a:ext>
            </a:extLst>
          </p:cNvPr>
          <p:cNvSpPr txBox="1"/>
          <p:nvPr/>
        </p:nvSpPr>
        <p:spPr>
          <a:xfrm>
            <a:off x="365760" y="333065"/>
            <a:ext cx="836842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2667"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MPC Parameter Selection</a:t>
            </a:r>
          </a:p>
        </p:txBody>
      </p:sp>
      <p:sp>
        <p:nvSpPr>
          <p:cNvPr id="7" name="Google Shape;178;p3">
            <a:extLst>
              <a:ext uri="{FF2B5EF4-FFF2-40B4-BE49-F238E27FC236}">
                <a16:creationId xmlns:a16="http://schemas.microsoft.com/office/drawing/2014/main" id="{DE506832-48BF-E50F-C086-C7681D51EB5B}"/>
              </a:ext>
            </a:extLst>
          </p:cNvPr>
          <p:cNvSpPr txBox="1"/>
          <p:nvPr/>
        </p:nvSpPr>
        <p:spPr>
          <a:xfrm>
            <a:off x="8485809" y="4800600"/>
            <a:ext cx="3914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10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E3416F-3210-CB44-8EA6-027B40265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062279"/>
              </p:ext>
            </p:extLst>
          </p:nvPr>
        </p:nvGraphicFramePr>
        <p:xfrm>
          <a:off x="2044365" y="1001732"/>
          <a:ext cx="6766560" cy="12192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106979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614775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046077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7259757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Hp</a:t>
                      </a:r>
                      <a:endParaRPr lang="en-US" sz="14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Yield (kg/ha)</a:t>
                      </a:r>
                      <a:endParaRPr lang="en-US" sz="14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Mean solve time</a:t>
                      </a:r>
                      <a:endParaRPr lang="en-US" sz="14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Total wallclock/season</a:t>
                      </a:r>
                      <a:endParaRPr lang="en-US" sz="14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3324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0.05-0.1h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4556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8</a:t>
                      </a:r>
                      <a:endParaRPr lang="en-US" sz="12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3810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23.5s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0.7-1.4h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4873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14</a:t>
                      </a:r>
                      <a:endParaRPr lang="en-US" sz="12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105.0s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1.0-7.6h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83344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2089E65-5F4C-60AB-AF7E-DC76FD2AD0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1723216"/>
                  </p:ext>
                </p:extLst>
              </p:nvPr>
            </p:nvGraphicFramePr>
            <p:xfrm>
              <a:off x="2853105" y="3440133"/>
              <a:ext cx="5632704" cy="1584960"/>
            </p:xfrm>
            <a:graphic>
              <a:graphicData uri="http://schemas.openxmlformats.org/drawingml/2006/table">
                <a:tbl>
                  <a:tblPr firstRow="1" bandRow="1">
                    <a:tableStyleId>{35758FB7-9AC5-4552-8A53-C91805E547FA}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1110697907"/>
                        </a:ext>
                      </a:extLst>
                    </a:gridCol>
                    <a:gridCol w="1243584">
                      <a:extLst>
                        <a:ext uri="{9D8B030D-6E8A-4147-A177-3AD203B41FA5}">
                          <a16:colId xmlns:a16="http://schemas.microsoft.com/office/drawing/2014/main" val="1561477532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1804607741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427259757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accent2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accent2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accent2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(price tier)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Yield (kg/ha)</a:t>
                          </a:r>
                          <a:endParaRPr lang="en-US" sz="1400" dirty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Water (mm)</a:t>
                          </a:r>
                          <a:endParaRPr lang="en-US" sz="1400" dirty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Waterlog-days</a:t>
                          </a:r>
                          <a:endParaRPr lang="en-US" sz="1400" dirty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83324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0.0004 (subsidized)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4445568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0.016 (domestic base)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4142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1.8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7487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0.044 (domestic tier 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4131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20.7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432813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0.265 (industrial)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48334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2089E65-5F4C-60AB-AF7E-DC76FD2AD0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1723216"/>
                  </p:ext>
                </p:extLst>
              </p:nvPr>
            </p:nvGraphicFramePr>
            <p:xfrm>
              <a:off x="2853105" y="3440133"/>
              <a:ext cx="5632704" cy="1584960"/>
            </p:xfrm>
            <a:graphic>
              <a:graphicData uri="http://schemas.openxmlformats.org/drawingml/2006/table">
                <a:tbl>
                  <a:tblPr firstRow="1" bandRow="1">
                    <a:tableStyleId>{35758FB7-9AC5-4552-8A53-C91805E547FA}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1110697907"/>
                        </a:ext>
                      </a:extLst>
                    </a:gridCol>
                    <a:gridCol w="1243584">
                      <a:extLst>
                        <a:ext uri="{9D8B030D-6E8A-4147-A177-3AD203B41FA5}">
                          <a16:colId xmlns:a16="http://schemas.microsoft.com/office/drawing/2014/main" val="1561477532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1804607741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427259757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3" t="-6667" r="-245926" b="-3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Yield (kg/ha)</a:t>
                          </a:r>
                          <a:endParaRPr lang="en-US" sz="1400" dirty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Water (mm)</a:t>
                          </a:r>
                          <a:endParaRPr lang="en-US" sz="1400" dirty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Waterlog-days</a:t>
                          </a:r>
                          <a:endParaRPr lang="en-US" sz="1400" dirty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83324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0.0004 (subsidized)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4445568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0.016 (domestic base)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4142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1.8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7487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0.044 (domestic tier 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4131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466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ea typeface="Tahoma" panose="020B0604030504040204" pitchFamily="34" charset="0"/>
                              <a:cs typeface="Times New Roman" panose="02020603050405020304" pitchFamily="18" charset="0"/>
                            </a:rPr>
                            <a:t>20.7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432813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0.265 (industrial)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48334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04FAC38-11E1-D884-AF59-7A02BADF386B}"/>
              </a:ext>
            </a:extLst>
          </p:cNvPr>
          <p:cNvSpPr txBox="1"/>
          <p:nvPr/>
        </p:nvSpPr>
        <p:spPr>
          <a:xfrm>
            <a:off x="333075" y="2404825"/>
            <a:ext cx="399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cost function 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E963B-648B-6A8D-7D45-76DC76D8A3D9}"/>
              </a:ext>
            </a:extLst>
          </p:cNvPr>
          <p:cNvSpPr txBox="1"/>
          <p:nvPr/>
        </p:nvSpPr>
        <p:spPr>
          <a:xfrm>
            <a:off x="365760" y="1103500"/>
            <a:ext cx="14916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Receding Horizon Hp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806202-DC84-AE23-AF19-E7F4D8C057A0}"/>
                  </a:ext>
                </a:extLst>
              </p:cNvPr>
              <p:cNvSpPr txBox="1"/>
              <p:nvPr/>
            </p:nvSpPr>
            <p:spPr>
              <a:xfrm>
                <a:off x="333075" y="2765614"/>
                <a:ext cx="841248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α</m:t>
                        </m:r>
                      </m:e>
                      <m:sub>
                        <m:r>
                          <a:rPr lang="en-US" sz="1400" b="0" i="0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400" b="0" i="0" u="none" strike="noStrike" cap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=1.0</m:t>
                    </m:r>
                  </m:oMath>
                </a14:m>
                <a:r>
                  <a:rPr lang="en-US" sz="1400" b="0" u="none" strike="noStrike" cap="non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 was chose as anchor.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=0.005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had negligible variations through the sweep.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=0.016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were chosen based on better performance on:</a:t>
                </a: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F8F8F8"/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yield</a:t>
                </a:r>
              </a:p>
              <a:p>
                <a:pPr marL="285750" indent="-285750">
                  <a:buClr>
                    <a:srgbClr val="F8F8F8"/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water amount used and </a:t>
                </a:r>
              </a:p>
              <a:p>
                <a:pPr marL="285750" indent="-285750">
                  <a:buClr>
                    <a:srgbClr val="F8F8F8"/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waterlog days.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806202-DC84-AE23-AF19-E7F4D8C05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75" y="2765614"/>
                <a:ext cx="8412480" cy="1384995"/>
              </a:xfrm>
              <a:prstGeom prst="rect">
                <a:avLst/>
              </a:prstGeom>
              <a:blipFill>
                <a:blip r:embed="rId3"/>
                <a:stretch>
                  <a:fillRect l="-217" t="-881" b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34CAE5B2-587F-7B0D-EA36-4D2A7DAEC715}"/>
              </a:ext>
            </a:extLst>
          </p:cNvPr>
          <p:cNvSpPr/>
          <p:nvPr/>
        </p:nvSpPr>
        <p:spPr>
          <a:xfrm>
            <a:off x="333075" y="1001732"/>
            <a:ext cx="1610025" cy="1194020"/>
          </a:xfrm>
          <a:prstGeom prst="flowChartAlternateProcess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34EC32-F6EB-A159-908B-C4F0ADD973F5}"/>
              </a:ext>
            </a:extLst>
          </p:cNvPr>
          <p:cNvCxnSpPr/>
          <p:nvPr/>
        </p:nvCxnSpPr>
        <p:spPr>
          <a:xfrm>
            <a:off x="349417" y="2344738"/>
            <a:ext cx="8445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38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9478-B344-1C63-ACB2-5D786FE6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6;p10">
            <a:extLst>
              <a:ext uri="{FF2B5EF4-FFF2-40B4-BE49-F238E27FC236}">
                <a16:creationId xmlns:a16="http://schemas.microsoft.com/office/drawing/2014/main" id="{3B5AADBC-AAD5-7DD8-9E4F-BFEA3DF977D5}"/>
              </a:ext>
            </a:extLst>
          </p:cNvPr>
          <p:cNvSpPr txBox="1">
            <a:spLocks/>
          </p:cNvSpPr>
          <p:nvPr/>
        </p:nvSpPr>
        <p:spPr>
          <a:xfrm>
            <a:off x="402743" y="324208"/>
            <a:ext cx="6824663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2667"/>
            </a:pPr>
            <a:r>
              <a:rPr lang="en-US" sz="3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 Controller Problem Statement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044BE-444C-7271-5ECD-4E0CCFF3869E}"/>
                  </a:ext>
                </a:extLst>
              </p:cNvPr>
              <p:cNvSpPr txBox="1"/>
              <p:nvPr/>
            </p:nvSpPr>
            <p:spPr>
              <a:xfrm>
                <a:off x="294272" y="3218829"/>
                <a:ext cx="4129677" cy="1401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SzPts val="1400"/>
                </a:pPr>
                <a:r>
                  <a:rPr lang="en-US" sz="1400" b="0" u="none" strike="noStrike" cap="non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SAC: </a:t>
                </a:r>
              </a:p>
              <a:p>
                <a:pPr lvl="0">
                  <a:buSzPts val="1400"/>
                </a:pPr>
                <a:endParaRPr lang="en-US" sz="500" b="0" u="none" strike="noStrike" cap="none" dirty="0">
                  <a:solidFill>
                    <a:schemeClr val="tx1"/>
                  </a:solidFill>
                  <a:ea typeface="Arial"/>
                  <a:cs typeface="Arial"/>
                  <a:sym typeface="Arial"/>
                </a:endParaRPr>
              </a:p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sSubSupPr>
                        <m:e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𝜋</m:t>
                          </m:r>
                        </m:e>
                        <m:sub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𝑆𝐴𝐶</m:t>
                          </m:r>
                        </m:sub>
                        <m:sup>
                          <m: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∗</m:t>
                          </m:r>
                        </m:sup>
                      </m:sSubSup>
                      <m:r>
                        <a:rPr lang="en-US" sz="1400" b="0" i="1" u="none" strike="noStrike" cap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  <a:sym typeface="Arial"/>
                        </a:rPr>
                        <m:t>=</m:t>
                      </m:r>
                      <m:func>
                        <m:funcPr>
                          <m:ctrlPr>
                            <a:rPr lang="en-US" sz="1400" b="0" i="1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u="none" strike="noStrike" cap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  <a:sym typeface="Arial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400" b="0" i="1" u="none" strike="noStrike" cap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4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400" b="0" i="1" u="none" strike="noStrike" cap="none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𝜋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𝑒𝑛𝑡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ℋ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⋅|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tanh</m:t>
                          </m:r>
                        </m:e>
                      </m:groupCh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=1,…,130</m:t>
                      </m:r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2044BE-444C-7271-5ECD-4E0CCFF38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72" y="3218829"/>
                <a:ext cx="4129677" cy="1401346"/>
              </a:xfrm>
              <a:prstGeom prst="rect">
                <a:avLst/>
              </a:prstGeom>
              <a:blipFill>
                <a:blip r:embed="rId2"/>
                <a:stretch>
                  <a:fillRect l="-442" t="-870" b="-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178;p3">
            <a:extLst>
              <a:ext uri="{FF2B5EF4-FFF2-40B4-BE49-F238E27FC236}">
                <a16:creationId xmlns:a16="http://schemas.microsoft.com/office/drawing/2014/main" id="{E7D81F93-C64B-AAB0-29A8-F1B1870DE937}"/>
              </a:ext>
            </a:extLst>
          </p:cNvPr>
          <p:cNvSpPr txBox="1"/>
          <p:nvPr/>
        </p:nvSpPr>
        <p:spPr>
          <a:xfrm>
            <a:off x="8485809" y="4800600"/>
            <a:ext cx="3914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11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B66BB0-FFDD-53AD-CB23-98339EE7B259}"/>
                  </a:ext>
                </a:extLst>
              </p:cNvPr>
              <p:cNvSpPr txBox="1"/>
              <p:nvPr/>
            </p:nvSpPr>
            <p:spPr>
              <a:xfrm>
                <a:off x="294272" y="864210"/>
                <a:ext cx="8457661" cy="2137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SzPts val="1400"/>
                </a:pPr>
                <a:r>
                  <a:rPr lang="en-US" sz="1400" b="0" i="0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OBJECTIVE:</a:t>
                </a:r>
              </a:p>
              <a:p>
                <a:pPr lvl="0">
                  <a:buSzPts val="1400"/>
                </a:pPr>
                <a:endParaRPr lang="en-US" sz="500" b="0" i="0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ea typeface="Arial"/>
                  <a:cs typeface="Arial"/>
                  <a:sym typeface="Arial"/>
                </a:endParaRPr>
              </a:p>
              <a:p>
                <a:pPr>
                  <a:buSzPts val="1400"/>
                </a:pPr>
                <a:r>
                  <a:rPr lang="en-US" sz="1400" b="0" i="0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Given the current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400" b="0" i="1" u="none" strike="noStrike" cap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b="0" i="0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, find a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b="0" i="0" u="none" strike="noStrike" cap="none" dirty="0">
                    <a:solidFill>
                      <a:schemeClr val="tx1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 that maximized the expected discounted return:</a:t>
                </a:r>
              </a:p>
              <a:p>
                <a:pPr lvl="0">
                  <a:buSzPts val="1400"/>
                </a:pPr>
                <a:endParaRPr lang="en-US" sz="500" b="0" i="0" u="none" strike="noStrike" cap="none" dirty="0">
                  <a:solidFill>
                    <a:schemeClr val="tx1"/>
                  </a:solidFill>
                  <a:latin typeface="Cambria Math" panose="02040503050406030204" pitchFamily="18" charset="0"/>
                  <a:ea typeface="Arial"/>
                  <a:cs typeface="Arial"/>
                  <a:sym typeface="Arial"/>
                </a:endParaRPr>
              </a:p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0">
                  <a:buSzPts val="1400"/>
                </a:pPr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where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4,   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𝑆𝑇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,0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acc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𝑆𝑇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𝑊𝑃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⋅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𝐹𝐶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,0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acc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𝐹𝐶</m:t>
                          </m:r>
                        </m:den>
                      </m:f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B66BB0-FFDD-53AD-CB23-98339EE7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72" y="864210"/>
                <a:ext cx="8457661" cy="2137060"/>
              </a:xfrm>
              <a:prstGeom prst="rect">
                <a:avLst/>
              </a:prstGeom>
              <a:blipFill>
                <a:blip r:embed="rId3"/>
                <a:stretch>
                  <a:fillRect l="-216" t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A551D9-A5CC-CDDA-CDE6-D554A267C97B}"/>
                  </a:ext>
                </a:extLst>
              </p:cNvPr>
              <p:cNvSpPr txBox="1"/>
              <p:nvPr/>
            </p:nvSpPr>
            <p:spPr>
              <a:xfrm>
                <a:off x="4523101" y="3218829"/>
                <a:ext cx="4039873" cy="1878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SzPts val="1400"/>
                </a:pPr>
                <a:r>
                  <a:rPr lang="en-US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TD3: </a:t>
                </a:r>
              </a:p>
              <a:p>
                <a:pPr lvl="0">
                  <a:buSzPts val="1400"/>
                </a:pPr>
                <a:endParaRPr lang="en-US" sz="5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(deterministic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400"/>
                </a:pPr>
                <a:endParaRPr lang="en-US" sz="5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=1,2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func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+1 ,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ϵ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clip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d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1400" b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  <a:p>
                <a:pPr lvl="0">
                  <a:buSzPts val="1400"/>
                </a:pPr>
                <a:endParaRPr lang="en-US" sz="600" b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  <a:p>
                <a:pPr lvl="0">
                  <a:buSzPts val="1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here includes a terminal bonus </a:t>
                </a:r>
              </a:p>
              <a:p>
                <a:pPr lvl="0">
                  <a:buSzPts val="1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term</m:t>
                        </m:r>
                      </m:sub>
                    </m:sSub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4,   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den>
                    </m:f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(paid once at k=K)</a:t>
                </a:r>
                <a:endParaRPr 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A551D9-A5CC-CDDA-CDE6-D554A267C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101" y="3218829"/>
                <a:ext cx="4039873" cy="1878015"/>
              </a:xfrm>
              <a:prstGeom prst="rect">
                <a:avLst/>
              </a:prstGeom>
              <a:blipFill>
                <a:blip r:embed="rId4"/>
                <a:stretch>
                  <a:fillRect l="-452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3E8815-3CCD-1B85-E7C6-C0EC350465FC}"/>
              </a:ext>
            </a:extLst>
          </p:cNvPr>
          <p:cNvCxnSpPr>
            <a:cxnSpLocks/>
          </p:cNvCxnSpPr>
          <p:nvPr/>
        </p:nvCxnSpPr>
        <p:spPr>
          <a:xfrm>
            <a:off x="4432200" y="3267075"/>
            <a:ext cx="0" cy="18297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67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8F44-DFB6-3297-B071-37F27FC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>
            <a:extLst>
              <a:ext uri="{FF2B5EF4-FFF2-40B4-BE49-F238E27FC236}">
                <a16:creationId xmlns:a16="http://schemas.microsoft.com/office/drawing/2014/main" id="{E8DF3163-B7B2-6D7E-8D15-5D74AAF720B8}"/>
              </a:ext>
            </a:extLst>
          </p:cNvPr>
          <p:cNvSpPr txBox="1"/>
          <p:nvPr/>
        </p:nvSpPr>
        <p:spPr>
          <a:xfrm>
            <a:off x="281940" y="310204"/>
            <a:ext cx="851154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lt1"/>
              </a:buClr>
              <a:buSzPts val="2667"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 Controller Network Architecture </a:t>
            </a:r>
            <a:endParaRPr sz="3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78;p3">
            <a:extLst>
              <a:ext uri="{FF2B5EF4-FFF2-40B4-BE49-F238E27FC236}">
                <a16:creationId xmlns:a16="http://schemas.microsoft.com/office/drawing/2014/main" id="{929C2E2B-8CC0-8990-3350-883BB478B470}"/>
              </a:ext>
            </a:extLst>
          </p:cNvPr>
          <p:cNvSpPr txBox="1"/>
          <p:nvPr/>
        </p:nvSpPr>
        <p:spPr>
          <a:xfrm>
            <a:off x="8485809" y="4800600"/>
            <a:ext cx="3914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12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AB0FCD-B9F0-39AF-27D7-3F0FC1EA5A1D}"/>
              </a:ext>
            </a:extLst>
          </p:cNvPr>
          <p:cNvSpPr/>
          <p:nvPr/>
        </p:nvSpPr>
        <p:spPr>
          <a:xfrm>
            <a:off x="4569907" y="2415205"/>
            <a:ext cx="204205" cy="576442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B4F28D1-FAE9-D30A-114B-1898608BC0BF}"/>
              </a:ext>
            </a:extLst>
          </p:cNvPr>
          <p:cNvSpPr/>
          <p:nvPr/>
        </p:nvSpPr>
        <p:spPr>
          <a:xfrm>
            <a:off x="5670129" y="1773508"/>
            <a:ext cx="204205" cy="1859835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E5EB506-6D80-6E4B-1FBA-79A3C34718A0}"/>
              </a:ext>
            </a:extLst>
          </p:cNvPr>
          <p:cNvSpPr txBox="1"/>
          <p:nvPr/>
        </p:nvSpPr>
        <p:spPr>
          <a:xfrm>
            <a:off x="4835685" y="2383729"/>
            <a:ext cx="75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C819391-6644-CD97-9979-193727574EBB}"/>
              </a:ext>
            </a:extLst>
          </p:cNvPr>
          <p:cNvSpPr txBox="1"/>
          <p:nvPr/>
        </p:nvSpPr>
        <p:spPr>
          <a:xfrm>
            <a:off x="5477976" y="3682796"/>
            <a:ext cx="551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 dims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098FC0F0-B96E-6558-1ACD-0A2E069FAA62}"/>
              </a:ext>
            </a:extLst>
          </p:cNvPr>
          <p:cNvSpPr/>
          <p:nvPr/>
        </p:nvSpPr>
        <p:spPr>
          <a:xfrm>
            <a:off x="6798262" y="1773508"/>
            <a:ext cx="204205" cy="1859835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13A6556F-B82A-5F96-6725-278BF2E0CDA8}"/>
              </a:ext>
            </a:extLst>
          </p:cNvPr>
          <p:cNvSpPr/>
          <p:nvPr/>
        </p:nvSpPr>
        <p:spPr>
          <a:xfrm>
            <a:off x="7976344" y="2586169"/>
            <a:ext cx="202474" cy="234509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8A3A8E69-56B9-8AC2-3AE9-8BF6EC0B7584}"/>
              </a:ext>
            </a:extLst>
          </p:cNvPr>
          <p:cNvSpPr/>
          <p:nvPr/>
        </p:nvSpPr>
        <p:spPr>
          <a:xfrm>
            <a:off x="4392534" y="1571193"/>
            <a:ext cx="3974570" cy="2990681"/>
          </a:xfrm>
          <a:prstGeom prst="roundRect">
            <a:avLst>
              <a:gd name="adj" fmla="val 1047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6" name="Multiplication Sign 205">
            <a:extLst>
              <a:ext uri="{FF2B5EF4-FFF2-40B4-BE49-F238E27FC236}">
                <a16:creationId xmlns:a16="http://schemas.microsoft.com/office/drawing/2014/main" id="{C472CDE2-66B9-3B9A-8823-75079A2DEA84}"/>
              </a:ext>
            </a:extLst>
          </p:cNvPr>
          <p:cNvSpPr/>
          <p:nvPr/>
        </p:nvSpPr>
        <p:spPr>
          <a:xfrm>
            <a:off x="6180534" y="4668512"/>
            <a:ext cx="260029" cy="29072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9F0911DD-89D6-0A01-EB08-E3BF0CD3376D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4774112" y="2703426"/>
            <a:ext cx="896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6BA3AAE-3543-EE27-C26C-2749927CF4AC}"/>
              </a:ext>
            </a:extLst>
          </p:cNvPr>
          <p:cNvCxnSpPr>
            <a:cxnSpLocks/>
            <a:stCxn id="29" idx="3"/>
            <a:endCxn id="198" idx="1"/>
          </p:cNvCxnSpPr>
          <p:nvPr/>
        </p:nvCxnSpPr>
        <p:spPr>
          <a:xfrm>
            <a:off x="5874334" y="2703426"/>
            <a:ext cx="923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C9850161-248D-D5FA-32B6-556553AD5B98}"/>
              </a:ext>
            </a:extLst>
          </p:cNvPr>
          <p:cNvCxnSpPr>
            <a:cxnSpLocks/>
            <a:stCxn id="198" idx="3"/>
            <a:endCxn id="202" idx="1"/>
          </p:cNvCxnSpPr>
          <p:nvPr/>
        </p:nvCxnSpPr>
        <p:spPr>
          <a:xfrm flipV="1">
            <a:off x="7002467" y="2703424"/>
            <a:ext cx="97387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743C322C-4D06-3F5C-AB33-F6D0111C5DC1}"/>
              </a:ext>
            </a:extLst>
          </p:cNvPr>
          <p:cNvSpPr txBox="1"/>
          <p:nvPr/>
        </p:nvSpPr>
        <p:spPr>
          <a:xfrm>
            <a:off x="4746514" y="2741495"/>
            <a:ext cx="971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8560AD9A-AE36-6168-C379-C67E2981FA2D}"/>
              </a:ext>
            </a:extLst>
          </p:cNvPr>
          <p:cNvSpPr txBox="1"/>
          <p:nvPr/>
        </p:nvSpPr>
        <p:spPr>
          <a:xfrm>
            <a:off x="5933258" y="2363787"/>
            <a:ext cx="75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FBEBAEAC-345C-70B7-4B0D-D620B58DB8C4}"/>
              </a:ext>
            </a:extLst>
          </p:cNvPr>
          <p:cNvSpPr txBox="1"/>
          <p:nvPr/>
        </p:nvSpPr>
        <p:spPr>
          <a:xfrm>
            <a:off x="7076565" y="2369096"/>
            <a:ext cx="75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6853D3DC-14E8-B4F6-B2D3-744E4CA31962}"/>
              </a:ext>
            </a:extLst>
          </p:cNvPr>
          <p:cNvSpPr txBox="1"/>
          <p:nvPr/>
        </p:nvSpPr>
        <p:spPr>
          <a:xfrm>
            <a:off x="4520622" y="3189861"/>
            <a:ext cx="551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 dims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3B9A582B-308F-FB5A-3440-25746F68D389}"/>
              </a:ext>
            </a:extLst>
          </p:cNvPr>
          <p:cNvSpPr txBox="1"/>
          <p:nvPr/>
        </p:nvSpPr>
        <p:spPr>
          <a:xfrm>
            <a:off x="6607521" y="3682796"/>
            <a:ext cx="551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 dims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CED61D21-44C0-A395-440F-9DF905378F32}"/>
              </a:ext>
            </a:extLst>
          </p:cNvPr>
          <p:cNvSpPr txBox="1"/>
          <p:nvPr/>
        </p:nvSpPr>
        <p:spPr>
          <a:xfrm>
            <a:off x="7807507" y="2537949"/>
            <a:ext cx="5510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E71F8C9B-10F8-73FB-0052-E7C2DBFB66C9}"/>
              </a:ext>
            </a:extLst>
          </p:cNvPr>
          <p:cNvSpPr txBox="1"/>
          <p:nvPr/>
        </p:nvSpPr>
        <p:spPr>
          <a:xfrm>
            <a:off x="6376879" y="4598704"/>
            <a:ext cx="312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78" name="Rectangle: Rounded Corners 377">
            <a:extLst>
              <a:ext uri="{FF2B5EF4-FFF2-40B4-BE49-F238E27FC236}">
                <a16:creationId xmlns:a16="http://schemas.microsoft.com/office/drawing/2014/main" id="{55529BA1-E950-8ECD-F1B7-C5F7CDEE928F}"/>
              </a:ext>
            </a:extLst>
          </p:cNvPr>
          <p:cNvSpPr/>
          <p:nvPr/>
        </p:nvSpPr>
        <p:spPr>
          <a:xfrm>
            <a:off x="717781" y="2014844"/>
            <a:ext cx="243138" cy="505433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" name="Rectangle: Rounded Corners 378">
            <a:extLst>
              <a:ext uri="{FF2B5EF4-FFF2-40B4-BE49-F238E27FC236}">
                <a16:creationId xmlns:a16="http://schemas.microsoft.com/office/drawing/2014/main" id="{F6A0D6D7-C7FD-FC59-8AEA-ACFB5597CA44}"/>
              </a:ext>
            </a:extLst>
          </p:cNvPr>
          <p:cNvSpPr/>
          <p:nvPr/>
        </p:nvSpPr>
        <p:spPr>
          <a:xfrm>
            <a:off x="1334840" y="1788660"/>
            <a:ext cx="251561" cy="957803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" name="Rectangle: Rounded Corners 379">
            <a:extLst>
              <a:ext uri="{FF2B5EF4-FFF2-40B4-BE49-F238E27FC236}">
                <a16:creationId xmlns:a16="http://schemas.microsoft.com/office/drawing/2014/main" id="{26ACECF6-08F5-1D46-175A-DCB5EB1FB5BA}"/>
              </a:ext>
            </a:extLst>
          </p:cNvPr>
          <p:cNvSpPr/>
          <p:nvPr/>
        </p:nvSpPr>
        <p:spPr>
          <a:xfrm>
            <a:off x="2523947" y="1161434"/>
            <a:ext cx="251561" cy="929916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1" name="Rectangle: Rounded Corners 380">
            <a:extLst>
              <a:ext uri="{FF2B5EF4-FFF2-40B4-BE49-F238E27FC236}">
                <a16:creationId xmlns:a16="http://schemas.microsoft.com/office/drawing/2014/main" id="{1B40EF08-1957-1DB9-49F3-596CCBF7A73E}"/>
              </a:ext>
            </a:extLst>
          </p:cNvPr>
          <p:cNvSpPr/>
          <p:nvPr/>
        </p:nvSpPr>
        <p:spPr>
          <a:xfrm>
            <a:off x="3224313" y="1479323"/>
            <a:ext cx="251561" cy="285779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B449A0F2-7ED1-49DE-1328-84776C5B6A95}"/>
              </a:ext>
            </a:extLst>
          </p:cNvPr>
          <p:cNvCxnSpPr>
            <a:cxnSpLocks/>
            <a:stCxn id="378" idx="3"/>
            <a:endCxn id="379" idx="1"/>
          </p:cNvCxnSpPr>
          <p:nvPr/>
        </p:nvCxnSpPr>
        <p:spPr>
          <a:xfrm>
            <a:off x="960919" y="2267561"/>
            <a:ext cx="3739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953F84D1-A741-EE55-46E2-D8C31AFB6452}"/>
              </a:ext>
            </a:extLst>
          </p:cNvPr>
          <p:cNvCxnSpPr>
            <a:cxnSpLocks/>
            <a:stCxn id="380" idx="3"/>
            <a:endCxn id="381" idx="1"/>
          </p:cNvCxnSpPr>
          <p:nvPr/>
        </p:nvCxnSpPr>
        <p:spPr>
          <a:xfrm flipV="1">
            <a:off x="2775508" y="1622213"/>
            <a:ext cx="448805" cy="4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Rectangle: Rounded Corners 383">
            <a:extLst>
              <a:ext uri="{FF2B5EF4-FFF2-40B4-BE49-F238E27FC236}">
                <a16:creationId xmlns:a16="http://schemas.microsoft.com/office/drawing/2014/main" id="{3B336620-98CB-7BD2-3544-363AE781C9FE}"/>
              </a:ext>
            </a:extLst>
          </p:cNvPr>
          <p:cNvSpPr/>
          <p:nvPr/>
        </p:nvSpPr>
        <p:spPr>
          <a:xfrm>
            <a:off x="2521088" y="2628173"/>
            <a:ext cx="251561" cy="891477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0834428F-3587-331B-B7A9-4429ECB8B12E}"/>
              </a:ext>
            </a:extLst>
          </p:cNvPr>
          <p:cNvCxnSpPr>
            <a:cxnSpLocks/>
            <a:stCxn id="384" idx="3"/>
            <a:endCxn id="389" idx="1"/>
          </p:cNvCxnSpPr>
          <p:nvPr/>
        </p:nvCxnSpPr>
        <p:spPr>
          <a:xfrm flipV="1">
            <a:off x="2772649" y="3066534"/>
            <a:ext cx="406285" cy="7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Rectangle: Rounded Corners 385">
            <a:extLst>
              <a:ext uri="{FF2B5EF4-FFF2-40B4-BE49-F238E27FC236}">
                <a16:creationId xmlns:a16="http://schemas.microsoft.com/office/drawing/2014/main" id="{E29C9382-2871-00C9-30D6-D875A4F7275D}"/>
              </a:ext>
            </a:extLst>
          </p:cNvPr>
          <p:cNvSpPr/>
          <p:nvPr/>
        </p:nvSpPr>
        <p:spPr>
          <a:xfrm>
            <a:off x="2523453" y="3842021"/>
            <a:ext cx="251561" cy="891477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6EDD1C0-4F3C-E2B4-A8FA-49928EF76C80}"/>
              </a:ext>
            </a:extLst>
          </p:cNvPr>
          <p:cNvCxnSpPr>
            <a:cxnSpLocks/>
            <a:stCxn id="386" idx="3"/>
            <a:endCxn id="391" idx="1"/>
          </p:cNvCxnSpPr>
          <p:nvPr/>
        </p:nvCxnSpPr>
        <p:spPr>
          <a:xfrm>
            <a:off x="2775014" y="4287760"/>
            <a:ext cx="399229" cy="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5041C58A-64B8-D2AA-A013-3734841DC773}"/>
                  </a:ext>
                </a:extLst>
              </p:cNvPr>
              <p:cNvSpPr txBox="1"/>
              <p:nvPr/>
            </p:nvSpPr>
            <p:spPr>
              <a:xfrm>
                <a:off x="3175825" y="1434448"/>
                <a:ext cx="348536" cy="314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5041C58A-64B8-D2AA-A013-3734841DC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825" y="1434448"/>
                <a:ext cx="348536" cy="3145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" name="Rectangle: Rounded Corners 388">
            <a:extLst>
              <a:ext uri="{FF2B5EF4-FFF2-40B4-BE49-F238E27FC236}">
                <a16:creationId xmlns:a16="http://schemas.microsoft.com/office/drawing/2014/main" id="{636C74CB-0DF3-1588-E064-00D1522BDF73}"/>
              </a:ext>
            </a:extLst>
          </p:cNvPr>
          <p:cNvSpPr/>
          <p:nvPr/>
        </p:nvSpPr>
        <p:spPr>
          <a:xfrm>
            <a:off x="3178934" y="2923644"/>
            <a:ext cx="251561" cy="285779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4EA9B012-E381-A9F5-C321-DD0D4637FF18}"/>
                  </a:ext>
                </a:extLst>
              </p:cNvPr>
              <p:cNvSpPr txBox="1"/>
              <p:nvPr/>
            </p:nvSpPr>
            <p:spPr>
              <a:xfrm>
                <a:off x="3125755" y="2869033"/>
                <a:ext cx="348536" cy="314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4EA9B012-E381-A9F5-C321-DD0D4637F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755" y="2869033"/>
                <a:ext cx="348536" cy="314512"/>
              </a:xfrm>
              <a:prstGeom prst="rect">
                <a:avLst/>
              </a:prstGeom>
              <a:blipFill>
                <a:blip r:embed="rId3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Rectangle: Rounded Corners 390">
            <a:extLst>
              <a:ext uri="{FF2B5EF4-FFF2-40B4-BE49-F238E27FC236}">
                <a16:creationId xmlns:a16="http://schemas.microsoft.com/office/drawing/2014/main" id="{5AD8C237-A72B-F338-296C-4C5795C019FC}"/>
              </a:ext>
            </a:extLst>
          </p:cNvPr>
          <p:cNvSpPr/>
          <p:nvPr/>
        </p:nvSpPr>
        <p:spPr>
          <a:xfrm>
            <a:off x="3174243" y="4144923"/>
            <a:ext cx="251561" cy="285779"/>
          </a:xfrm>
          <a:prstGeom prst="roundRect">
            <a:avLst/>
          </a:prstGeom>
          <a:solidFill>
            <a:schemeClr val="bg2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6B179C64-6FAE-9D75-3492-6848609B2F0D}"/>
                  </a:ext>
                </a:extLst>
              </p:cNvPr>
              <p:cNvSpPr txBox="1"/>
              <p:nvPr/>
            </p:nvSpPr>
            <p:spPr>
              <a:xfrm>
                <a:off x="3125755" y="4116190"/>
                <a:ext cx="348536" cy="314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6B179C64-6FAE-9D75-3492-6848609B2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755" y="4116190"/>
                <a:ext cx="348536" cy="314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" name="Rectangle: Rounded Corners 392">
            <a:extLst>
              <a:ext uri="{FF2B5EF4-FFF2-40B4-BE49-F238E27FC236}">
                <a16:creationId xmlns:a16="http://schemas.microsoft.com/office/drawing/2014/main" id="{D5848B36-B8D3-FF52-E7ED-83767059BE43}"/>
              </a:ext>
            </a:extLst>
          </p:cNvPr>
          <p:cNvSpPr/>
          <p:nvPr/>
        </p:nvSpPr>
        <p:spPr>
          <a:xfrm>
            <a:off x="2106595" y="1093182"/>
            <a:ext cx="1532274" cy="1264471"/>
          </a:xfrm>
          <a:prstGeom prst="roundRect">
            <a:avLst>
              <a:gd name="adj" fmla="val 1047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4" name="Rectangle: Rounded Corners 393">
            <a:extLst>
              <a:ext uri="{FF2B5EF4-FFF2-40B4-BE49-F238E27FC236}">
                <a16:creationId xmlns:a16="http://schemas.microsoft.com/office/drawing/2014/main" id="{34463C47-C74C-9938-80E1-D7B9AA6E1E26}"/>
              </a:ext>
            </a:extLst>
          </p:cNvPr>
          <p:cNvSpPr/>
          <p:nvPr/>
        </p:nvSpPr>
        <p:spPr>
          <a:xfrm>
            <a:off x="2110792" y="2545418"/>
            <a:ext cx="1532274" cy="2435512"/>
          </a:xfrm>
          <a:prstGeom prst="roundRect">
            <a:avLst>
              <a:gd name="adj" fmla="val 1047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6" name="Connector: Elbow 395">
            <a:extLst>
              <a:ext uri="{FF2B5EF4-FFF2-40B4-BE49-F238E27FC236}">
                <a16:creationId xmlns:a16="http://schemas.microsoft.com/office/drawing/2014/main" id="{031BBC72-DFA8-6D96-4E26-72E3C44B4CB8}"/>
              </a:ext>
            </a:extLst>
          </p:cNvPr>
          <p:cNvCxnSpPr>
            <a:cxnSpLocks/>
            <a:stCxn id="394" idx="1"/>
            <a:endCxn id="384" idx="1"/>
          </p:cNvCxnSpPr>
          <p:nvPr/>
        </p:nvCxnSpPr>
        <p:spPr>
          <a:xfrm rot="10800000" flipH="1">
            <a:off x="2110792" y="3073912"/>
            <a:ext cx="410296" cy="689262"/>
          </a:xfrm>
          <a:prstGeom prst="bentConnector3">
            <a:avLst>
              <a:gd name="adj1" fmla="val 301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: Elbow 396">
            <a:extLst>
              <a:ext uri="{FF2B5EF4-FFF2-40B4-BE49-F238E27FC236}">
                <a16:creationId xmlns:a16="http://schemas.microsoft.com/office/drawing/2014/main" id="{7CF040CE-8495-4DB3-627D-744134A24FD2}"/>
              </a:ext>
            </a:extLst>
          </p:cNvPr>
          <p:cNvCxnSpPr>
            <a:cxnSpLocks/>
            <a:stCxn id="394" idx="1"/>
            <a:endCxn id="386" idx="1"/>
          </p:cNvCxnSpPr>
          <p:nvPr/>
        </p:nvCxnSpPr>
        <p:spPr>
          <a:xfrm rot="10800000" flipH="1" flipV="1">
            <a:off x="2110791" y="3763174"/>
            <a:ext cx="412661" cy="524586"/>
          </a:xfrm>
          <a:prstGeom prst="bentConnector3">
            <a:avLst>
              <a:gd name="adj1" fmla="val 300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: Elbow 397">
            <a:extLst>
              <a:ext uri="{FF2B5EF4-FFF2-40B4-BE49-F238E27FC236}">
                <a16:creationId xmlns:a16="http://schemas.microsoft.com/office/drawing/2014/main" id="{4A338529-417D-C619-E22A-951CBD1A0C8E}"/>
              </a:ext>
            </a:extLst>
          </p:cNvPr>
          <p:cNvCxnSpPr>
            <a:cxnSpLocks/>
            <a:stCxn id="379" idx="3"/>
            <a:endCxn id="394" idx="1"/>
          </p:cNvCxnSpPr>
          <p:nvPr/>
        </p:nvCxnSpPr>
        <p:spPr>
          <a:xfrm>
            <a:off x="1586401" y="2267562"/>
            <a:ext cx="524391" cy="149561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TextBox 399">
            <a:extLst>
              <a:ext uri="{FF2B5EF4-FFF2-40B4-BE49-F238E27FC236}">
                <a16:creationId xmlns:a16="http://schemas.microsoft.com/office/drawing/2014/main" id="{DE7FB055-4C65-D70B-68BE-FCF40EBE359D}"/>
              </a:ext>
            </a:extLst>
          </p:cNvPr>
          <p:cNvSpPr txBox="1"/>
          <p:nvPr/>
        </p:nvSpPr>
        <p:spPr>
          <a:xfrm>
            <a:off x="558156" y="2609491"/>
            <a:ext cx="551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 dims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8F78DAEB-967B-BD06-10A2-544708244569}"/>
              </a:ext>
            </a:extLst>
          </p:cNvPr>
          <p:cNvSpPr txBox="1"/>
          <p:nvPr/>
        </p:nvSpPr>
        <p:spPr>
          <a:xfrm>
            <a:off x="1166943" y="2855041"/>
            <a:ext cx="551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dims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E62E348B-3595-125C-351A-04BAEF57ED9C}"/>
              </a:ext>
            </a:extLst>
          </p:cNvPr>
          <p:cNvSpPr txBox="1"/>
          <p:nvPr/>
        </p:nvSpPr>
        <p:spPr>
          <a:xfrm>
            <a:off x="2181956" y="4700834"/>
            <a:ext cx="943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dims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F99FEB39-8BE4-342B-C614-74A97D1AC8EE}"/>
              </a:ext>
            </a:extLst>
          </p:cNvPr>
          <p:cNvSpPr txBox="1"/>
          <p:nvPr/>
        </p:nvSpPr>
        <p:spPr>
          <a:xfrm>
            <a:off x="2179680" y="3511358"/>
            <a:ext cx="9771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dims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0CCA4083-6080-705F-15C3-4B2E28568061}"/>
              </a:ext>
            </a:extLst>
          </p:cNvPr>
          <p:cNvSpPr txBox="1"/>
          <p:nvPr/>
        </p:nvSpPr>
        <p:spPr>
          <a:xfrm>
            <a:off x="2164063" y="2062911"/>
            <a:ext cx="943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dims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76" name="Connector: Elbow 475">
            <a:extLst>
              <a:ext uri="{FF2B5EF4-FFF2-40B4-BE49-F238E27FC236}">
                <a16:creationId xmlns:a16="http://schemas.microsoft.com/office/drawing/2014/main" id="{454B1704-FF91-03DB-E55C-7DC1EA38905C}"/>
              </a:ext>
            </a:extLst>
          </p:cNvPr>
          <p:cNvCxnSpPr>
            <a:cxnSpLocks/>
            <a:stCxn id="379" idx="3"/>
            <a:endCxn id="380" idx="1"/>
          </p:cNvCxnSpPr>
          <p:nvPr/>
        </p:nvCxnSpPr>
        <p:spPr>
          <a:xfrm flipV="1">
            <a:off x="1586401" y="1626392"/>
            <a:ext cx="937546" cy="641170"/>
          </a:xfrm>
          <a:prstGeom prst="bentConnector3">
            <a:avLst>
              <a:gd name="adj1" fmla="val 276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5" name="TextBox 484">
            <a:extLst>
              <a:ext uri="{FF2B5EF4-FFF2-40B4-BE49-F238E27FC236}">
                <a16:creationId xmlns:a16="http://schemas.microsoft.com/office/drawing/2014/main" id="{22677FC2-D3C5-6AED-E156-3D4FBFCC588A}"/>
              </a:ext>
            </a:extLst>
          </p:cNvPr>
          <p:cNvSpPr txBox="1"/>
          <p:nvPr/>
        </p:nvSpPr>
        <p:spPr>
          <a:xfrm>
            <a:off x="3102684" y="4673816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SAC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547F1753-8642-C3E9-7974-428570A4B968}"/>
              </a:ext>
            </a:extLst>
          </p:cNvPr>
          <p:cNvSpPr txBox="1"/>
          <p:nvPr/>
        </p:nvSpPr>
        <p:spPr>
          <a:xfrm>
            <a:off x="3103553" y="2055850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TD3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30D62051-9869-BA64-11E4-584434D29C1A}"/>
              </a:ext>
            </a:extLst>
          </p:cNvPr>
          <p:cNvSpPr txBox="1"/>
          <p:nvPr/>
        </p:nvSpPr>
        <p:spPr>
          <a:xfrm>
            <a:off x="4319835" y="944973"/>
            <a:ext cx="116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 </a:t>
            </a:r>
          </a:p>
        </p:txBody>
      </p: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7D6563ED-7932-8012-CA55-4F3FCE546E31}"/>
              </a:ext>
            </a:extLst>
          </p:cNvPr>
          <p:cNvCxnSpPr/>
          <p:nvPr/>
        </p:nvCxnSpPr>
        <p:spPr>
          <a:xfrm>
            <a:off x="3981450" y="990600"/>
            <a:ext cx="0" cy="3905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TextBox 492">
            <a:extLst>
              <a:ext uri="{FF2B5EF4-FFF2-40B4-BE49-F238E27FC236}">
                <a16:creationId xmlns:a16="http://schemas.microsoft.com/office/drawing/2014/main" id="{63A0DB95-A608-552E-088D-D8F3399C1E32}"/>
              </a:ext>
            </a:extLst>
          </p:cNvPr>
          <p:cNvSpPr txBox="1"/>
          <p:nvPr/>
        </p:nvSpPr>
        <p:spPr>
          <a:xfrm>
            <a:off x="250093" y="979478"/>
            <a:ext cx="116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7085A604-7BB6-0807-D45E-7BAA8C0CF7F4}"/>
              </a:ext>
            </a:extLst>
          </p:cNvPr>
          <p:cNvSpPr txBox="1"/>
          <p:nvPr/>
        </p:nvSpPr>
        <p:spPr>
          <a:xfrm>
            <a:off x="5850559" y="2712894"/>
            <a:ext cx="971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48CA5BCC-0D2D-91D2-E5F2-EA1B0E9BB233}"/>
              </a:ext>
            </a:extLst>
          </p:cNvPr>
          <p:cNvSpPr txBox="1"/>
          <p:nvPr/>
        </p:nvSpPr>
        <p:spPr>
          <a:xfrm>
            <a:off x="6965290" y="2741495"/>
            <a:ext cx="971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</p:spTree>
    <p:extLst>
      <p:ext uri="{BB962C8B-B14F-4D97-AF65-F5344CB8AC3E}">
        <p14:creationId xmlns:p14="http://schemas.microsoft.com/office/powerpoint/2010/main" val="427428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A2C6-2A01-3F41-DAE9-07F1D4BD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>
            <a:extLst>
              <a:ext uri="{FF2B5EF4-FFF2-40B4-BE49-F238E27FC236}">
                <a16:creationId xmlns:a16="http://schemas.microsoft.com/office/drawing/2014/main" id="{E92BB3D3-D91B-F49B-A23A-62F34C6EE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2425" y="267287"/>
            <a:ext cx="8603883" cy="60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8888"/>
              <a:buFont typeface="Arial"/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Results</a:t>
            </a:r>
            <a:endParaRPr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78;p3">
            <a:extLst>
              <a:ext uri="{FF2B5EF4-FFF2-40B4-BE49-F238E27FC236}">
                <a16:creationId xmlns:a16="http://schemas.microsoft.com/office/drawing/2014/main" id="{2FB0486B-6B09-2090-46D0-39D658CF22A3}"/>
              </a:ext>
            </a:extLst>
          </p:cNvPr>
          <p:cNvSpPr txBox="1"/>
          <p:nvPr/>
        </p:nvSpPr>
        <p:spPr>
          <a:xfrm>
            <a:off x="8485809" y="4800600"/>
            <a:ext cx="3914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13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8E2B8B-FEA6-2D70-9BFB-F1CB8927E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26326"/>
              </p:ext>
            </p:extLst>
          </p:nvPr>
        </p:nvGraphicFramePr>
        <p:xfrm>
          <a:off x="352426" y="939018"/>
          <a:ext cx="8583481" cy="3825238"/>
        </p:xfrm>
        <a:graphic>
          <a:graphicData uri="http://schemas.openxmlformats.org/drawingml/2006/table">
            <a:tbl>
              <a:tblPr firstRow="1" bandRow="1">
                <a:effectLst/>
                <a:tableStyleId>{775DCB02-9BB8-47FD-8907-85C794F793BA}</a:tableStyleId>
              </a:tblPr>
              <a:tblGrid>
                <a:gridCol w="1847078">
                  <a:extLst>
                    <a:ext uri="{9D8B030D-6E8A-4147-A177-3AD203B41FA5}">
                      <a16:colId xmlns:a16="http://schemas.microsoft.com/office/drawing/2014/main" val="916701268"/>
                    </a:ext>
                  </a:extLst>
                </a:gridCol>
                <a:gridCol w="1042119">
                  <a:extLst>
                    <a:ext uri="{9D8B030D-6E8A-4147-A177-3AD203B41FA5}">
                      <a16:colId xmlns:a16="http://schemas.microsoft.com/office/drawing/2014/main" val="3107748259"/>
                    </a:ext>
                  </a:extLst>
                </a:gridCol>
                <a:gridCol w="1042119">
                  <a:extLst>
                    <a:ext uri="{9D8B030D-6E8A-4147-A177-3AD203B41FA5}">
                      <a16:colId xmlns:a16="http://schemas.microsoft.com/office/drawing/2014/main" val="353348932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4152135831"/>
                    </a:ext>
                  </a:extLst>
                </a:gridCol>
                <a:gridCol w="1042119">
                  <a:extLst>
                    <a:ext uri="{9D8B030D-6E8A-4147-A177-3AD203B41FA5}">
                      <a16:colId xmlns:a16="http://schemas.microsoft.com/office/drawing/2014/main" val="39095107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986000241"/>
                    </a:ext>
                  </a:extLst>
                </a:gridCol>
                <a:gridCol w="1287470">
                  <a:extLst>
                    <a:ext uri="{9D8B030D-6E8A-4147-A177-3AD203B41FA5}">
                      <a16:colId xmlns:a16="http://schemas.microsoft.com/office/drawing/2014/main" val="4118928283"/>
                    </a:ext>
                  </a:extLst>
                </a:gridCol>
              </a:tblGrid>
              <a:tr h="72065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Controller</a:t>
                      </a:r>
                      <a:endParaRPr lang="en-US" sz="1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Yield (kg/ha)</a:t>
                      </a:r>
                      <a:endParaRPr lang="en-US" sz="1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% of Ceiling</a:t>
                      </a:r>
                      <a:endParaRPr lang="en-US" sz="1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Drought-days</a:t>
                      </a:r>
                      <a:endParaRPr lang="en-US" sz="1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Waterlog-days</a:t>
                      </a:r>
                      <a:endParaRPr lang="en-US" sz="1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Water Usage (mm)</a:t>
                      </a:r>
                      <a:endParaRPr lang="en-US" sz="1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Decision latency (</a:t>
                      </a:r>
                      <a:r>
                        <a:rPr lang="en-US" sz="1400" dirty="0" err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ms</a:t>
                      </a:r>
                      <a:r>
                        <a:rPr lang="en-US" sz="14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)</a:t>
                      </a:r>
                      <a:endParaRPr lang="en-US" sz="1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850563"/>
                  </a:ext>
                </a:extLst>
              </a:tr>
              <a:tr h="34981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No irrigation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1728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43.5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86.5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1.4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-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316163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Fixed schedule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3314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82.7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28.2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54.3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411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-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186144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Reactive controller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3532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88.2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33.0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41.7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411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-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935046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SAC (Pool A)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3785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94.6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25.6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18.2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382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1.0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011049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SAC (Pool B)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3777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94.4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32.4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16.1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376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1.0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975942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MPC (Hp = 8)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3810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95.2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16.0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7.7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364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52,603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661077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TD3 (Pool B, 3-seed)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3800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95.0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35.2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6.5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358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1.3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931178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TD3 (Pool A, 3-seed)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3805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95.1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33.7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7.2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362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</a:rPr>
                        <a:t>1.3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07393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48A71A3-CD95-56F4-50D8-90A8881F9AE1}"/>
              </a:ext>
            </a:extLst>
          </p:cNvPr>
          <p:cNvSpPr/>
          <p:nvPr/>
        </p:nvSpPr>
        <p:spPr>
          <a:xfrm>
            <a:off x="3262313" y="3611166"/>
            <a:ext cx="998934" cy="338534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C0A36-A7CA-9A7B-41E1-17308053F777}"/>
              </a:ext>
            </a:extLst>
          </p:cNvPr>
          <p:cNvSpPr/>
          <p:nvPr/>
        </p:nvSpPr>
        <p:spPr>
          <a:xfrm>
            <a:off x="4310463" y="3611166"/>
            <a:ext cx="985437" cy="338535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3D91F3-AD82-D760-4D74-F516D1603D20}"/>
              </a:ext>
            </a:extLst>
          </p:cNvPr>
          <p:cNvSpPr/>
          <p:nvPr/>
        </p:nvSpPr>
        <p:spPr>
          <a:xfrm>
            <a:off x="5349478" y="4001691"/>
            <a:ext cx="995363" cy="345281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346E93-A593-08D7-57EF-7035D2E192BC}"/>
              </a:ext>
            </a:extLst>
          </p:cNvPr>
          <p:cNvSpPr/>
          <p:nvPr/>
        </p:nvSpPr>
        <p:spPr>
          <a:xfrm>
            <a:off x="6387703" y="4001690"/>
            <a:ext cx="1240631" cy="345282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30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E3DE3-9E7B-508B-379A-933C7178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>
            <a:extLst>
              <a:ext uri="{FF2B5EF4-FFF2-40B4-BE49-F238E27FC236}">
                <a16:creationId xmlns:a16="http://schemas.microsoft.com/office/drawing/2014/main" id="{A929A359-7DE6-153B-0217-9D3BA267EB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2425" y="306435"/>
            <a:ext cx="8524873" cy="6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8888"/>
              <a:buFont typeface="Arial"/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Mean </a:t>
            </a:r>
            <a:r>
              <a:rPr lang="en-US" sz="3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∆u Smoothing</a:t>
            </a:r>
            <a:endParaRPr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78;p3">
            <a:extLst>
              <a:ext uri="{FF2B5EF4-FFF2-40B4-BE49-F238E27FC236}">
                <a16:creationId xmlns:a16="http://schemas.microsoft.com/office/drawing/2014/main" id="{1B3E1885-A3C9-9E80-5CA2-89B2BB6BE254}"/>
              </a:ext>
            </a:extLst>
          </p:cNvPr>
          <p:cNvSpPr txBox="1"/>
          <p:nvPr/>
        </p:nvSpPr>
        <p:spPr>
          <a:xfrm>
            <a:off x="8485809" y="4800600"/>
            <a:ext cx="3914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15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0982D3F-AAAF-AB56-D554-112B9D98C3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954865"/>
                  </p:ext>
                </p:extLst>
              </p:nvPr>
            </p:nvGraphicFramePr>
            <p:xfrm>
              <a:off x="4572000" y="1956582"/>
              <a:ext cx="4334256" cy="2844018"/>
            </p:xfrm>
            <a:graphic>
              <a:graphicData uri="http://schemas.openxmlformats.org/drawingml/2006/table">
                <a:tbl>
                  <a:tblPr firstRow="1" bandRow="1">
                    <a:tableStyleId>{687A7ECD-2A97-474F-886D-0B6430B54BD1}</a:tableStyleId>
                  </a:tblPr>
                  <a:tblGrid>
                    <a:gridCol w="1399032">
                      <a:extLst>
                        <a:ext uri="{9D8B030D-6E8A-4147-A177-3AD203B41FA5}">
                          <a16:colId xmlns:a16="http://schemas.microsoft.com/office/drawing/2014/main" val="1110697907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561477532"/>
                        </a:ext>
                      </a:extLst>
                    </a:gridCol>
                    <a:gridCol w="1060704">
                      <a:extLst>
                        <a:ext uri="{9D8B030D-6E8A-4147-A177-3AD203B41FA5}">
                          <a16:colId xmlns:a16="http://schemas.microsoft.com/office/drawing/2014/main" val="1804607741"/>
                        </a:ext>
                      </a:extLst>
                    </a:gridCol>
                    <a:gridCol w="1051560">
                      <a:extLst>
                        <a:ext uri="{9D8B030D-6E8A-4147-A177-3AD203B41FA5}">
                          <a16:colId xmlns:a16="http://schemas.microsoft.com/office/drawing/2014/main" val="4272597574"/>
                        </a:ext>
                      </a:extLst>
                    </a:gridCol>
                  </a:tblGrid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anchor="ctr">
                        <a:solidFill>
                          <a:srgbClr val="738E9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MPC (Hp = 8)</a:t>
                          </a:r>
                        </a:p>
                      </a:txBody>
                      <a:tcPr anchor="ctr">
                        <a:solidFill>
                          <a:srgbClr val="738E9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TD3,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Pool A</a:t>
                          </a:r>
                        </a:p>
                      </a:txBody>
                      <a:tcPr anchor="ctr">
                        <a:solidFill>
                          <a:srgbClr val="738E9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TD3,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400" b="1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Pool B</a:t>
                          </a:r>
                        </a:p>
                      </a:txBody>
                      <a:tcPr anchor="ctr">
                        <a:solidFill>
                          <a:srgbClr val="738E9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332472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Yield (kg/ha)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44455685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% of Ceiling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95.2</a:t>
                          </a:r>
                          <a:endParaRPr lang="en-US" sz="1200" dirty="0">
                            <a:solidFill>
                              <a:schemeClr val="bg2">
                                <a:lumMod val="65000"/>
                                <a:lumOff val="35000"/>
                              </a:schemeClr>
                            </a:solidFill>
                            <a:latin typeface="Times New Roman" panose="020206030504050203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95.2</a:t>
                          </a:r>
                          <a:endParaRPr lang="en-US" sz="1200" dirty="0">
                            <a:solidFill>
                              <a:schemeClr val="bg2">
                                <a:lumMod val="65000"/>
                                <a:lumOff val="35000"/>
                              </a:schemeClr>
                            </a:solidFill>
                            <a:latin typeface="Times New Roman" panose="020206030504050203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95.2</a:t>
                          </a:r>
                          <a:endParaRPr lang="en-US" sz="1200" dirty="0">
                            <a:solidFill>
                              <a:schemeClr val="bg2">
                                <a:lumMod val="65000"/>
                                <a:lumOff val="35000"/>
                              </a:schemeClr>
                            </a:solidFill>
                            <a:latin typeface="Times New Roman" panose="020206030504050203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7487359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Control effort, mean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b="0" i="1" smtClean="0">
                                      <a:solidFill>
                                        <a:schemeClr val="bg2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solidFill>
                                        <a:schemeClr val="bg2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bg2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(mm/day)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4833444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Drought-days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655850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Waterlog-days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7609454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Water used (mm)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4824590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Decision latency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~53s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~1.3ms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~1.3ms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76682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0982D3F-AAAF-AB56-D554-112B9D98C3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954865"/>
                  </p:ext>
                </p:extLst>
              </p:nvPr>
            </p:nvGraphicFramePr>
            <p:xfrm>
              <a:off x="4572000" y="1956582"/>
              <a:ext cx="4334256" cy="2844018"/>
            </p:xfrm>
            <a:graphic>
              <a:graphicData uri="http://schemas.openxmlformats.org/drawingml/2006/table">
                <a:tbl>
                  <a:tblPr firstRow="1" bandRow="1">
                    <a:tableStyleId>{687A7ECD-2A97-474F-886D-0B6430B54BD1}</a:tableStyleId>
                  </a:tblPr>
                  <a:tblGrid>
                    <a:gridCol w="1399032">
                      <a:extLst>
                        <a:ext uri="{9D8B030D-6E8A-4147-A177-3AD203B41FA5}">
                          <a16:colId xmlns:a16="http://schemas.microsoft.com/office/drawing/2014/main" val="1110697907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561477532"/>
                        </a:ext>
                      </a:extLst>
                    </a:gridCol>
                    <a:gridCol w="1060704">
                      <a:extLst>
                        <a:ext uri="{9D8B030D-6E8A-4147-A177-3AD203B41FA5}">
                          <a16:colId xmlns:a16="http://schemas.microsoft.com/office/drawing/2014/main" val="1804607741"/>
                        </a:ext>
                      </a:extLst>
                    </a:gridCol>
                    <a:gridCol w="1051560">
                      <a:extLst>
                        <a:ext uri="{9D8B030D-6E8A-4147-A177-3AD203B41FA5}">
                          <a16:colId xmlns:a16="http://schemas.microsoft.com/office/drawing/2014/main" val="427259757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anchor="ctr">
                        <a:solidFill>
                          <a:srgbClr val="738E9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MPC (Hp = 8)</a:t>
                          </a:r>
                        </a:p>
                      </a:txBody>
                      <a:tcPr anchor="ctr">
                        <a:solidFill>
                          <a:srgbClr val="738E9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920" t="-1176" r="-101724" b="-45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4535" t="-1176" r="-2907" b="-45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332472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Yield (kg/ha)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3810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44455685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% of Ceiling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95.2</a:t>
                          </a:r>
                          <a:endParaRPr lang="en-US" sz="1200" dirty="0">
                            <a:solidFill>
                              <a:schemeClr val="bg2">
                                <a:lumMod val="65000"/>
                                <a:lumOff val="35000"/>
                              </a:schemeClr>
                            </a:solidFill>
                            <a:latin typeface="Times New Roman" panose="020206030504050203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95.2</a:t>
                          </a:r>
                          <a:endParaRPr lang="en-US" sz="1200" dirty="0">
                            <a:solidFill>
                              <a:schemeClr val="bg2">
                                <a:lumMod val="65000"/>
                                <a:lumOff val="35000"/>
                              </a:schemeClr>
                            </a:solidFill>
                            <a:latin typeface="Times New Roman" panose="020206030504050203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95.2</a:t>
                          </a:r>
                          <a:endParaRPr lang="en-US" sz="1200" dirty="0">
                            <a:solidFill>
                              <a:schemeClr val="bg2">
                                <a:lumMod val="65000"/>
                                <a:lumOff val="35000"/>
                              </a:schemeClr>
                            </a:solidFill>
                            <a:latin typeface="Times New Roman" panose="020206030504050203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74873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70" t="-252000" r="-211304" b="-27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4833444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Drought-days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655850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Waterlog-days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7609454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Water used (mm)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4824590"/>
                      </a:ext>
                    </a:extLst>
                  </a:tr>
                  <a:tr h="3114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Decision latency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~53s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~1.3ms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solidFill>
                                <a:schemeClr val="bg2">
                                  <a:lumMod val="65000"/>
                                  <a:lumOff val="35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~1.3ms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76682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5B9A7B35-AC02-2A78-2BD9-75D0CBDCE4D3}"/>
              </a:ext>
            </a:extLst>
          </p:cNvPr>
          <p:cNvSpPr/>
          <p:nvPr/>
        </p:nvSpPr>
        <p:spPr>
          <a:xfrm>
            <a:off x="5992811" y="2505871"/>
            <a:ext cx="2884487" cy="258491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F8AD44-EAF1-4E62-81F7-C4E849F4385F}"/>
              </a:ext>
            </a:extLst>
          </p:cNvPr>
          <p:cNvSpPr/>
          <p:nvPr/>
        </p:nvSpPr>
        <p:spPr>
          <a:xfrm>
            <a:off x="6815137" y="3110520"/>
            <a:ext cx="2062161" cy="411162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FC95-497E-DD0E-B5AC-3B9F2DF35C3C}"/>
              </a:ext>
            </a:extLst>
          </p:cNvPr>
          <p:cNvSpPr/>
          <p:nvPr/>
        </p:nvSpPr>
        <p:spPr>
          <a:xfrm>
            <a:off x="6815137" y="4186371"/>
            <a:ext cx="2062161" cy="271936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78811E-B273-E465-D176-70AC9D65B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5" y="1082850"/>
            <a:ext cx="4273742" cy="2789179"/>
          </a:xfrm>
          <a:prstGeom prst="roundRect">
            <a:avLst>
              <a:gd name="adj" fmla="val 10748"/>
            </a:avLst>
          </a:prstGeom>
        </p:spPr>
      </p:pic>
    </p:spTree>
    <p:extLst>
      <p:ext uri="{BB962C8B-B14F-4D97-AF65-F5344CB8AC3E}">
        <p14:creationId xmlns:p14="http://schemas.microsoft.com/office/powerpoint/2010/main" val="347064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02595-5839-5866-4D0F-30BCED69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1162-E97B-9C51-C64F-FD30CC10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Per Scenario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B9BEED-37F5-B9B5-5CC8-1BCA15DC6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93" y="1376363"/>
            <a:ext cx="8752813" cy="3351165"/>
          </a:xfrm>
          <a:prstGeom prst="rect">
            <a:avLst/>
          </a:prstGeom>
        </p:spPr>
      </p:pic>
      <p:sp>
        <p:nvSpPr>
          <p:cNvPr id="16" name="Google Shape;178;p3">
            <a:extLst>
              <a:ext uri="{FF2B5EF4-FFF2-40B4-BE49-F238E27FC236}">
                <a16:creationId xmlns:a16="http://schemas.microsoft.com/office/drawing/2014/main" id="{F3AD1B64-5AD9-5941-16FD-03CB60031F8D}"/>
              </a:ext>
            </a:extLst>
          </p:cNvPr>
          <p:cNvSpPr txBox="1"/>
          <p:nvPr/>
        </p:nvSpPr>
        <p:spPr>
          <a:xfrm>
            <a:off x="8485809" y="4800600"/>
            <a:ext cx="3914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14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30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0326-A7F4-9594-C89E-A060E462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>
            <a:extLst>
              <a:ext uri="{FF2B5EF4-FFF2-40B4-BE49-F238E27FC236}">
                <a16:creationId xmlns:a16="http://schemas.microsoft.com/office/drawing/2014/main" id="{EC6D6B40-4960-4B2C-4684-2C7CF1452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819" y="306434"/>
            <a:ext cx="8583481" cy="505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8888"/>
              <a:buFont typeface="Arial"/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 to Noise</a:t>
            </a:r>
            <a:endParaRPr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1174E9-CCDD-04AD-8DB6-00BD5C0AC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645763"/>
              </p:ext>
            </p:extLst>
          </p:nvPr>
        </p:nvGraphicFramePr>
        <p:xfrm>
          <a:off x="147769" y="1017510"/>
          <a:ext cx="4608577" cy="2688347"/>
        </p:xfrm>
        <a:graphic>
          <a:graphicData uri="http://schemas.openxmlformats.org/drawingml/2006/table">
            <a:tbl>
              <a:tblPr firstRow="1" bandRow="1">
                <a:effectLst/>
                <a:tableStyleId>{775DCB02-9BB8-47FD-8907-85C794F793BA}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91670126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107748259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533489321"/>
                    </a:ext>
                  </a:extLst>
                </a:gridCol>
                <a:gridCol w="1042417">
                  <a:extLst>
                    <a:ext uri="{9D8B030D-6E8A-4147-A177-3AD203B41FA5}">
                      <a16:colId xmlns:a16="http://schemas.microsoft.com/office/drawing/2014/main" val="4152135831"/>
                    </a:ext>
                  </a:extLst>
                </a:gridCol>
              </a:tblGrid>
              <a:tr h="7206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</a:t>
                      </a:r>
                      <a:endParaRPr lang="en-US" sz="15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%Yield, perfect</a:t>
                      </a:r>
                      <a:endParaRPr lang="en-US" sz="15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%Yield, noisy</a:t>
                      </a:r>
                      <a:endParaRPr lang="en-US" sz="15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∆, pts</a:t>
                      </a:r>
                      <a:endParaRPr lang="en-US" sz="15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850563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MPC (Hp = 8)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95.2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-0.23 pts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011049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 (Pool A)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94.6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93.8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-0.78 pts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975942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MPC (Hp = B)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94.4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93.6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-0.83 pts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661077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TD3 (Pool A)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95.1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-0.21 pts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931178"/>
                  </a:ext>
                </a:extLst>
              </a:tr>
              <a:tr h="39353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TD3 (Pool B)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95.0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</a:t>
                      </a:r>
                      <a:endParaRPr lang="en-US" sz="1300" dirty="0">
                        <a:solidFill>
                          <a:schemeClr val="bg2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chemeClr val="bg2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-0.10 pts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073934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1EBE5693-F544-20D7-EA7E-159453D7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75"/>
          <a:stretch>
            <a:fillRect/>
          </a:stretch>
        </p:blipFill>
        <p:spPr>
          <a:xfrm>
            <a:off x="4915779" y="2101850"/>
            <a:ext cx="4023093" cy="23241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B42AB0E-1CB5-609D-17AA-CB1742FEB31A}"/>
              </a:ext>
            </a:extLst>
          </p:cNvPr>
          <p:cNvSpPr txBox="1"/>
          <p:nvPr/>
        </p:nvSpPr>
        <p:spPr>
          <a:xfrm>
            <a:off x="4886325" y="3400425"/>
            <a:ext cx="369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TD3</a:t>
            </a:r>
          </a:p>
        </p:txBody>
      </p:sp>
    </p:spTree>
    <p:extLst>
      <p:ext uri="{BB962C8B-B14F-4D97-AF65-F5344CB8AC3E}">
        <p14:creationId xmlns:p14="http://schemas.microsoft.com/office/powerpoint/2010/main" val="373712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1;p24"/>
          <p:cNvSpPr txBox="1">
            <a:spLocks noGrp="1"/>
          </p:cNvSpPr>
          <p:nvPr>
            <p:ph type="title"/>
          </p:nvPr>
        </p:nvSpPr>
        <p:spPr>
          <a:xfrm>
            <a:off x="193412" y="2683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5" name="Google Shape;252;p24"/>
          <p:cNvSpPr txBox="1"/>
          <p:nvPr/>
        </p:nvSpPr>
        <p:spPr>
          <a:xfrm>
            <a:off x="8496300" y="4800601"/>
            <a:ext cx="381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6" name="Google Shape;253;p24"/>
          <p:cNvSpPr txBox="1"/>
          <p:nvPr/>
        </p:nvSpPr>
        <p:spPr>
          <a:xfrm>
            <a:off x="300300" y="965849"/>
            <a:ext cx="8500800" cy="38347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189" indent="-355591">
              <a:lnSpc>
                <a:spcPct val="115000"/>
              </a:lnSpc>
              <a:spcBef>
                <a:spcPts val="1000"/>
              </a:spcBef>
              <a:buSzPts val="2000"/>
              <a:buFont typeface="Times New Roman"/>
              <a:buChar char="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model-free TD3 policy matches MPC's yield (99.7%, 3800 vs 3810 kg/ha) at ~1ms vs ~53s per decision and exceeds it on waterlog control and water efficiency.</a:t>
            </a:r>
          </a:p>
          <a:p>
            <a:pPr marL="457189" indent="-355591">
              <a:lnSpc>
                <a:spcPct val="115000"/>
              </a:lnSpc>
              <a:spcBef>
                <a:spcPts val="1000"/>
              </a:spcBef>
              <a:buSzPts val="2000"/>
              <a:buFont typeface="Times New Roman"/>
              <a:buChar char="➢"/>
            </a:pP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Post-hoc EMA smoothing (α=0.3) closes 70% of TD3's control-effort gap to MPC.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355591">
              <a:lnSpc>
                <a:spcPct val="115000"/>
              </a:lnSpc>
              <a:spcBef>
                <a:spcPts val="1000"/>
              </a:spcBef>
              <a:buSzPts val="2000"/>
              <a:buFont typeface="Times New Roman"/>
              <a:buChar char="➢"/>
            </a:pP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pool-composition decomposition shows ~70% of the apparent SAC-vs-TD3 drought gap was training-data artifact, not algorithm choice.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>
            <a:spLocks noGrp="1"/>
          </p:cNvSpPr>
          <p:nvPr>
            <p:ph type="title" idx="4294967295"/>
          </p:nvPr>
        </p:nvSpPr>
        <p:spPr>
          <a:xfrm>
            <a:off x="457200" y="1947757"/>
            <a:ext cx="8229600" cy="1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3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br>
              <a:rPr lang="en-US" sz="3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YOUR TIME!</a:t>
            </a:r>
            <a:endParaRPr sz="29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3087150" y="4439175"/>
            <a:ext cx="296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taratorbati@yahoo.com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8496300" y="4800600"/>
            <a:ext cx="381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4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TMO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4552</TotalTime>
  <Words>1355</Words>
  <Application>Microsoft Office PowerPoint</Application>
  <PresentationFormat>On-screen Show (16:9)</PresentationFormat>
  <Paragraphs>364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Times New Roman</vt:lpstr>
      <vt:lpstr>ITMO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Primary Results</vt:lpstr>
      <vt:lpstr>Mean ∆u Smoothing</vt:lpstr>
      <vt:lpstr>Per Scenario Analysis</vt:lpstr>
      <vt:lpstr>Robustness to Noise</vt:lpstr>
      <vt:lpstr>Conclusion</vt:lpstr>
      <vt:lpstr>THANK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Tara Torbati</dc:creator>
  <cp:lastModifiedBy>Tara Torbati</cp:lastModifiedBy>
  <cp:revision>20</cp:revision>
  <dcterms:modified xsi:type="dcterms:W3CDTF">2026-06-17T06:08:05Z</dcterms:modified>
</cp:coreProperties>
</file>