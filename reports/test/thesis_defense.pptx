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ppt/charts/chart3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98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3" autoAdjust="0"/>
    <p:restoredTop sz="84978" autoAdjust="0"/>
  </p:normalViewPr>
  <p:slideViewPr>
    <p:cSldViewPr snapToGrid="0" snapToObjects="1">
      <p:cViewPr varScale="1">
        <p:scale>
          <a:sx n="99" d="100"/>
          <a:sy n="99" d="100"/>
        </p:scale>
        <p:origin x="549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B8A6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4B8A6"/>
                </a:solidFill>
                <a:latin typeface="Arial"/>
              </a:rPr>
              <a:t>Yield (kg/ha) by Scenario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Irrigation</c:v>
                </c:pt>
              </c:strCache>
            </c:strRef>
          </c:tx>
          <c:spPr>
            <a:solidFill>
              <a:srgbClr val="455A64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Dry</c:v>
                </c:pt>
                <c:pt idx="1">
                  <c:v>Moderate</c:v>
                </c:pt>
                <c:pt idx="2">
                  <c:v>Wet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1462</c:v>
                </c:pt>
                <c:pt idx="1">
                  <c:v>1478</c:v>
                </c:pt>
                <c:pt idx="2">
                  <c:v>2243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C9-405B-9AD1-551D20E47D5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Fixed 100%</c:v>
                </c:pt>
              </c:strCache>
            </c:strRef>
          </c:tx>
          <c:spPr>
            <a:solidFill>
              <a:srgbClr val="0B9B8A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Dry</c:v>
                </c:pt>
                <c:pt idx="1">
                  <c:v>Moderate</c:v>
                </c:pt>
                <c:pt idx="2">
                  <c:v>Wet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3607</c:v>
                </c:pt>
                <c:pt idx="1">
                  <c:v>3302</c:v>
                </c:pt>
                <c:pt idx="2">
                  <c:v>2790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5C9-405B-9AD1-551D20E47D5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Fixed 85%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Dry</c:v>
                </c:pt>
                <c:pt idx="1">
                  <c:v>Moderate</c:v>
                </c:pt>
                <c:pt idx="2">
                  <c:v>Wet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3394</c:v>
                </c:pt>
                <c:pt idx="1">
                  <c:v>3089</c:v>
                </c:pt>
                <c:pt idx="2">
                  <c:v>2901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5C9-405B-9AD1-551D20E47D5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Fixed 70%</c:v>
                </c:pt>
              </c:strCache>
            </c:strRef>
          </c:tx>
          <c:spPr>
            <a:solidFill>
              <a:srgbClr val="64B5A0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Dry</c:v>
                </c:pt>
                <c:pt idx="1">
                  <c:v>Moderate</c:v>
                </c:pt>
                <c:pt idx="2">
                  <c:v>Wet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3118</c:v>
                </c:pt>
                <c:pt idx="1">
                  <c:v>2841</c:v>
                </c:pt>
                <c:pt idx="2">
                  <c:v>3024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5C9-405B-9AD1-551D20E47D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A8C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4A6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A8C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1E3A5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B8A6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4B8A6"/>
                </a:solidFill>
                <a:latin typeface="Arial"/>
              </a:rPr>
              <a:t>Yield at 100% Budget (kg/ha)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Irrigation</c:v>
                </c:pt>
              </c:strCache>
            </c:strRef>
          </c:tx>
          <c:spPr>
            <a:solidFill>
              <a:srgbClr val="455A64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Dry</c:v>
                </c:pt>
                <c:pt idx="1">
                  <c:v>Moderate</c:v>
                </c:pt>
                <c:pt idx="2">
                  <c:v>Wet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1462</c:v>
                </c:pt>
                <c:pt idx="1">
                  <c:v>1478</c:v>
                </c:pt>
                <c:pt idx="2">
                  <c:v>2243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97F-40F6-839F-F48013E98DA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Fixed Schedule</c:v>
                </c:pt>
              </c:strCache>
            </c:strRef>
          </c:tx>
          <c:spPr>
            <a:solidFill>
              <a:srgbClr val="0B9B8A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Dry</c:v>
                </c:pt>
                <c:pt idx="1">
                  <c:v>Moderate</c:v>
                </c:pt>
                <c:pt idx="2">
                  <c:v>Wet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3607</c:v>
                </c:pt>
                <c:pt idx="1">
                  <c:v>3302</c:v>
                </c:pt>
                <c:pt idx="2">
                  <c:v>2790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97F-40F6-839F-F48013E98DA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MPC Hp=8</c:v>
                </c:pt>
              </c:strCache>
            </c:strRef>
          </c:tx>
          <c:spPr>
            <a:solidFill>
              <a:srgbClr val="E05252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Dry</c:v>
                </c:pt>
                <c:pt idx="1">
                  <c:v>Moderate</c:v>
                </c:pt>
                <c:pt idx="2">
                  <c:v>Wet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4145</c:v>
                </c:pt>
                <c:pt idx="1">
                  <c:v>0</c:v>
                </c:pt>
                <c:pt idx="2">
                  <c:v>3759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97F-40F6-839F-F48013E98DA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SAC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Dry</c:v>
                </c:pt>
                <c:pt idx="1">
                  <c:v>Moderate</c:v>
                </c:pt>
                <c:pt idx="2">
                  <c:v>Wet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2477</c:v>
                </c:pt>
                <c:pt idx="1">
                  <c:v>2376</c:v>
                </c:pt>
                <c:pt idx="2">
                  <c:v>3145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97F-40F6-839F-F48013E98D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A8C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4A6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A8C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1E3A5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B8A6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4B8A6"/>
                </a:solidFill>
                <a:latin typeface="Arial"/>
              </a:rPr>
              <a:t>Yield Delta vs. Fixed Schedule (kg/ha)   [positive = better]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MPC vs Fixed</c:v>
                </c:pt>
              </c:strCache>
            </c:strRef>
          </c:tx>
          <c:spPr>
            <a:solidFill>
              <a:srgbClr val="0B9B8A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Dry/100%</c:v>
                </c:pt>
                <c:pt idx="1">
                  <c:v>Dry/85%</c:v>
                </c:pt>
                <c:pt idx="2">
                  <c:v>Dry/70%</c:v>
                </c:pt>
                <c:pt idx="3">
                  <c:v>Wet/100%</c:v>
                </c:pt>
                <c:pt idx="4">
                  <c:v>Wet/85%</c:v>
                </c:pt>
                <c:pt idx="5">
                  <c:v>Wet/70%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538</c:v>
                </c:pt>
                <c:pt idx="1">
                  <c:v>675</c:v>
                </c:pt>
                <c:pt idx="2">
                  <c:v>648</c:v>
                </c:pt>
                <c:pt idx="3">
                  <c:v>969</c:v>
                </c:pt>
                <c:pt idx="4">
                  <c:v>842</c:v>
                </c:pt>
                <c:pt idx="5">
                  <c:v>730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8C5-4AE1-9A62-1E3E1E840F4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SAC vs Fixed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Dry/100%</c:v>
                </c:pt>
                <c:pt idx="1">
                  <c:v>Dry/85%</c:v>
                </c:pt>
                <c:pt idx="2">
                  <c:v>Dry/70%</c:v>
                </c:pt>
                <c:pt idx="3">
                  <c:v>Wet/100%</c:v>
                </c:pt>
                <c:pt idx="4">
                  <c:v>Wet/85%</c:v>
                </c:pt>
                <c:pt idx="5">
                  <c:v>Wet/70%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-1130</c:v>
                </c:pt>
                <c:pt idx="1">
                  <c:v>-910</c:v>
                </c:pt>
                <c:pt idx="2">
                  <c:v>-617</c:v>
                </c:pt>
                <c:pt idx="3">
                  <c:v>355</c:v>
                </c:pt>
                <c:pt idx="4">
                  <c:v>247</c:v>
                </c:pt>
                <c:pt idx="5">
                  <c:v>131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8C5-4AE1-9A62-1E3E1E840F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A8C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4A6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A8C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span"/>
    <c:showDLblsOverMax val="1"/>
  </c:chart>
  <c:spPr>
    <a:solidFill>
      <a:srgbClr val="1E3A5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4927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B9B8A"/>
          </a:solidFill>
          <a:ln w="12700">
            <a:solidFill>
              <a:srgbClr val="0B9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-822960"/>
            <a:ext cx="2743200" cy="2743200"/>
          </a:xfrm>
          <a:prstGeom prst="ellipse">
            <a:avLst/>
          </a:prstGeom>
          <a:solidFill>
            <a:srgbClr val="0B9B8A">
              <a:alpha val="20000"/>
            </a:srgbClr>
          </a:solidFill>
          <a:ln w="12700">
            <a:solidFill>
              <a:srgbClr val="0B9B8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Control Methods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Agricultural Irrigation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02920" y="2331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MPC vs. Reinforcement Learning in Water-Constrained Crop Systems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02920" y="2944368"/>
            <a:ext cx="4114800" cy="22860"/>
          </a:xfrm>
          <a:prstGeom prst="rect">
            <a:avLst/>
          </a:prstGeom>
          <a:solidFill>
            <a:srgbClr val="0B9B8A"/>
          </a:solidFill>
          <a:ln w="12700">
            <a:solidFill>
              <a:srgbClr val="0B9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30906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 Torbati</a:t>
            </a: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ITMO University, R4237c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34564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Peregudin A. A.   |   MSc Defence, 2026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44805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site: Gilan Province, Iran  •  6 ha Hashemi rice field  •  38.298°N, 48.847°E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2860"/>
          </a:xfrm>
          <a:prstGeom prst="rect">
            <a:avLst/>
          </a:prstGeom>
          <a:solidFill>
            <a:srgbClr val="0B9B8A"/>
          </a:solidFill>
          <a:ln w="12700">
            <a:solidFill>
              <a:srgbClr val="0B9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978408"/>
            <a:ext cx="420624" cy="420624"/>
          </a:xfrm>
          <a:prstGeom prst="ellipse">
            <a:avLst/>
          </a:prstGeom>
          <a:solidFill>
            <a:srgbClr val="0B9B8A"/>
          </a:solidFill>
          <a:ln w="12700">
            <a:solidFill>
              <a:srgbClr val="0B9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9784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23544" y="9601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Problem Statement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965960"/>
            <a:ext cx="420624" cy="420624"/>
          </a:xfrm>
          <a:prstGeom prst="ellipse">
            <a:avLst/>
          </a:prstGeom>
          <a:solidFill>
            <a:srgbClr val="0B9B8A"/>
          </a:solidFill>
          <a:ln w="12700">
            <a:solidFill>
              <a:srgbClr val="0B9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9659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23544" y="194767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Environment (ABM)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11480" y="2953512"/>
            <a:ext cx="420624" cy="420624"/>
          </a:xfrm>
          <a:prstGeom prst="ellipse">
            <a:avLst/>
          </a:prstGeom>
          <a:solidFill>
            <a:srgbClr val="0B9B8A"/>
          </a:solidFill>
          <a:ln w="12700">
            <a:solidFill>
              <a:srgbClr val="0B9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29535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23544" y="293522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Designs — MPC &amp; SAC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11480" y="3941064"/>
            <a:ext cx="420624" cy="420624"/>
          </a:xfrm>
          <a:prstGeom prst="ellipse">
            <a:avLst/>
          </a:prstGeom>
          <a:solidFill>
            <a:srgbClr val="0B9B8A"/>
          </a:solidFill>
          <a:ln w="12700">
            <a:solidFill>
              <a:srgbClr val="0B9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394106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23544" y="392277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754880" y="978408"/>
            <a:ext cx="420624" cy="420624"/>
          </a:xfrm>
          <a:prstGeom prst="ellipse">
            <a:avLst/>
          </a:prstGeom>
          <a:solidFill>
            <a:srgbClr val="0B9B8A"/>
          </a:solidFill>
          <a:ln w="12700">
            <a:solidFill>
              <a:srgbClr val="0B9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54880" y="9784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66944" y="9601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Baselines &amp; MPC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754880" y="1965960"/>
            <a:ext cx="420624" cy="420624"/>
          </a:xfrm>
          <a:prstGeom prst="ellipse">
            <a:avLst/>
          </a:prstGeom>
          <a:solidFill>
            <a:srgbClr val="0B9B8A"/>
          </a:solidFill>
          <a:ln w="12700">
            <a:solidFill>
              <a:srgbClr val="0B9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54880" y="19659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266944" y="194767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SAC Training &amp; Evaluation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754880" y="2953512"/>
            <a:ext cx="420624" cy="420624"/>
          </a:xfrm>
          <a:prstGeom prst="ellipse">
            <a:avLst/>
          </a:prstGeom>
          <a:solidFill>
            <a:srgbClr val="0B9B8A"/>
          </a:solidFill>
          <a:ln w="12700">
            <a:solidFill>
              <a:srgbClr val="0B9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54880" y="29535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66944" y="293522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Head-to-Head Comparison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754880" y="3941064"/>
            <a:ext cx="420624" cy="420624"/>
          </a:xfrm>
          <a:prstGeom prst="ellipse">
            <a:avLst/>
          </a:prstGeom>
          <a:solidFill>
            <a:srgbClr val="0B9B8A"/>
          </a:solidFill>
          <a:ln w="12700">
            <a:solidFill>
              <a:srgbClr val="0B9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54880" y="394106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66944" y="392277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Future Work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Motivation: The Anthropogenic Drought Crisis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2860"/>
          </a:xfrm>
          <a:prstGeom prst="rect">
            <a:avLst/>
          </a:prstGeom>
          <a:solidFill>
            <a:srgbClr val="0B9B8A"/>
          </a:solidFill>
          <a:ln w="12700">
            <a:solidFill>
              <a:srgbClr val="0B9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2651760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0B9B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033272"/>
            <a:ext cx="2651760" cy="77952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1782166"/>
            <a:ext cx="26517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global freshwater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2065630"/>
            <a:ext cx="26517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consumed by agriculture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960120"/>
            <a:ext cx="2651760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0B9B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46120" y="1033272"/>
            <a:ext cx="2651760" cy="77952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246120" y="1782166"/>
            <a:ext cx="26517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world population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46120" y="2065630"/>
            <a:ext cx="26517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water stress by 2030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951890"/>
            <a:ext cx="2651760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0B9B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80760" y="1025042"/>
            <a:ext cx="2651760" cy="77952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238k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080760" y="1773936"/>
            <a:ext cx="26517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hectares of paddy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80760" y="2057400"/>
            <a:ext cx="26517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Gilan Province alone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2698579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 Engineering Gap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11480" y="3017520"/>
            <a:ext cx="8321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irrigation is reactive and open-loop; no forecast, no constraint awareness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MPC can enforce strict seasonal water budgets but requires expensive online optimisation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offers millisecond-latency decisions after training but constraint satisfaction is not guaranteed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thesis rigorously benchmarks both on a high-fidelity ABM of a real Iranian rice field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Simulation Environment: Agent-Based Model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2860"/>
          </a:xfrm>
          <a:prstGeom prst="rect">
            <a:avLst/>
          </a:prstGeom>
          <a:solidFill>
            <a:srgbClr val="0B9B8A"/>
          </a:solidFill>
          <a:ln w="12700">
            <a:solidFill>
              <a:srgbClr val="0B9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868680"/>
            <a:ext cx="475488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 crop-soil agents on 10×13 DEM grid</a:t>
            </a:r>
            <a:endParaRPr lang="en-US" sz="1300" dirty="0"/>
          </a:p>
          <a:p>
            <a:pPr marL="342900" indent="-342900">
              <a:lnSpc>
                <a:spcPct val="150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Elevation range 74–181 m (Talish Mountains)</a:t>
            </a:r>
            <a:endParaRPr lang="en-US" sz="1300" dirty="0"/>
          </a:p>
          <a:p>
            <a:pPr marL="342900" indent="-342900">
              <a:lnSpc>
                <a:spcPct val="150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25-year NASA POWER climate dataset (2000–2025)</a:t>
            </a:r>
            <a:endParaRPr lang="en-US" sz="1300" dirty="0"/>
          </a:p>
          <a:p>
            <a:pPr marL="342900" indent="-342900">
              <a:lnSpc>
                <a:spcPct val="150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water routing 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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eliminates 'bathtub' mass-balance errors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 surface &amp; subsurface hydrology (corrects original framework)</a:t>
            </a:r>
            <a:endParaRPr lang="en-US" sz="1300" dirty="0"/>
          </a:p>
          <a:p>
            <a:pPr marL="342900" indent="-342900">
              <a:lnSpc>
                <a:spcPct val="1500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Drought stress integrated into biomass eq. (FAO AquaCrop approach)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349240" y="86868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Per-agent state vector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349240" y="1325880"/>
            <a:ext cx="3474720" cy="548640"/>
          </a:xfrm>
          <a:prstGeom prst="rect">
            <a:avLst/>
          </a:prstGeom>
          <a:solidFill>
            <a:srgbClr val="1E3A5F"/>
          </a:solidFill>
          <a:ln w="19050">
            <a:solidFill>
              <a:srgbClr val="0B9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349240" y="1325880"/>
            <a:ext cx="73152" cy="548640"/>
          </a:xfrm>
          <a:prstGeom prst="rect">
            <a:avLst/>
          </a:prstGeom>
          <a:solidFill>
            <a:srgbClr val="0B9B8A"/>
          </a:solidFill>
          <a:ln w="12700">
            <a:solidFill>
              <a:srgbClr val="0B9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532120" y="13258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x₁ Root moisture (mm)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49240" y="1993392"/>
            <a:ext cx="3474720" cy="548640"/>
          </a:xfrm>
          <a:prstGeom prst="rect">
            <a:avLst/>
          </a:prstGeom>
          <a:solidFill>
            <a:srgbClr val="1E3A5F"/>
          </a:solidFill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349240" y="1993392"/>
            <a:ext cx="73152" cy="5486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532120" y="1993392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x₂ Thermal time (GDD)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349240" y="2660904"/>
            <a:ext cx="3474720" cy="548640"/>
          </a:xfrm>
          <a:prstGeom prst="rect">
            <a:avLst/>
          </a:prstGeom>
          <a:solidFill>
            <a:srgbClr val="1E3A5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349240" y="2660904"/>
            <a:ext cx="73152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532120" y="2660904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x₃ Maturation stress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349240" y="3328416"/>
            <a:ext cx="3474720" cy="548640"/>
          </a:xfrm>
          <a:prstGeom prst="rect">
            <a:avLst/>
          </a:prstGeom>
          <a:solidFill>
            <a:srgbClr val="1E3A5F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349240" y="3328416"/>
            <a:ext cx="73152" cy="5486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532120" y="3328416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x₄ Biomass (g/m²)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349240" y="3995928"/>
            <a:ext cx="3474720" cy="548640"/>
          </a:xfrm>
          <a:prstGeom prst="rect">
            <a:avLst/>
          </a:prstGeom>
          <a:solidFill>
            <a:srgbClr val="1E3A5F"/>
          </a:solidFill>
          <a:ln w="1905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349240" y="3995928"/>
            <a:ext cx="73152" cy="54864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532120" y="399592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x₅ Surface ponding (mm)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37">
            <a:extLst>
              <a:ext uri="{FF2B5EF4-FFF2-40B4-BE49-F238E27FC236}">
                <a16:creationId xmlns:a16="http://schemas.microsoft.com/office/drawing/2014/main" id="{D904C78F-11CE-96E5-62C3-6E3135F49AF9}"/>
              </a:ext>
            </a:extLst>
          </p:cNvPr>
          <p:cNvSpPr/>
          <p:nvPr/>
        </p:nvSpPr>
        <p:spPr>
          <a:xfrm>
            <a:off x="5437099" y="3505634"/>
            <a:ext cx="2651760" cy="797859"/>
          </a:xfrm>
          <a:prstGeom prst="rect">
            <a:avLst/>
          </a:prstGeom>
          <a:solidFill>
            <a:srgbClr val="1E3A5F"/>
          </a:solidFill>
          <a:ln w="12700">
            <a:solidFill>
              <a:srgbClr val="0B988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&amp; Scenario Parameterisation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2860"/>
          </a:xfrm>
          <a:prstGeom prst="rect">
            <a:avLst/>
          </a:prstGeom>
          <a:solidFill>
            <a:srgbClr val="0B9B8A"/>
          </a:solidFill>
          <a:ln w="12700">
            <a:solidFill>
              <a:srgbClr val="0B9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124712"/>
            <a:ext cx="4114800" cy="3200400"/>
          </a:xfrm>
          <a:prstGeom prst="rect">
            <a:avLst/>
          </a:prstGeom>
          <a:solidFill>
            <a:srgbClr val="1E3A5F"/>
          </a:solidFill>
          <a:ln w="12700">
            <a:solidFill>
              <a:srgbClr val="0B9B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124712"/>
            <a:ext cx="4114800" cy="384048"/>
          </a:xfrm>
          <a:prstGeom prst="rect">
            <a:avLst/>
          </a:prstGeom>
          <a:solidFill>
            <a:srgbClr val="0B9B8A"/>
          </a:solidFill>
          <a:ln w="12700">
            <a:solidFill>
              <a:srgbClr val="0B9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12471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Hashemi Rice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572768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Cultivar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40280" y="1572768"/>
            <a:ext cx="2240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Hashemi rice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29968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40280" y="2029968"/>
            <a:ext cx="2240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DOY 141–233 (93 days)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487168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40280" y="2487168"/>
            <a:ext cx="2240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1.15  |  Depletion p = 0.20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944368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depth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40280" y="2944368"/>
            <a:ext cx="2240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mm  |  HI = 0.45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401568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Drought sens. θ₁₄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240280" y="3401568"/>
            <a:ext cx="2240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  (high)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858768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GDD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240280" y="3858768"/>
            <a:ext cx="2240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1 250 °C·day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40278" y="946023"/>
            <a:ext cx="3521892" cy="4987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Scenarios</a:t>
            </a: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5437099" y="1585317"/>
            <a:ext cx="2651760" cy="797860"/>
          </a:xfrm>
          <a:prstGeom prst="rect">
            <a:avLst/>
          </a:prstGeom>
          <a:solidFill>
            <a:srgbClr val="1E3A5F"/>
          </a:solidFill>
          <a:ln w="12700">
            <a:solidFill>
              <a:srgbClr val="E0525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437099" y="1853100"/>
            <a:ext cx="2651760" cy="53899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39.7 mm</a:t>
            </a:r>
            <a:endParaRPr lang="en-US" sz="3000" dirty="0"/>
          </a:p>
        </p:txBody>
      </p:sp>
      <p:sp>
        <p:nvSpPr>
          <p:cNvPr id="38" name="Text 36"/>
          <p:cNvSpPr/>
          <p:nvPr/>
        </p:nvSpPr>
        <p:spPr>
          <a:xfrm>
            <a:off x="5437099" y="1585316"/>
            <a:ext cx="2651760" cy="3678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2022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437099" y="2545476"/>
            <a:ext cx="2651760" cy="797859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437099" y="2831599"/>
            <a:ext cx="2651760" cy="50252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108.8 mm</a:t>
            </a:r>
            <a:endParaRPr lang="en-US" sz="3000" dirty="0"/>
          </a:p>
        </p:txBody>
      </p:sp>
      <p:sp>
        <p:nvSpPr>
          <p:cNvPr id="42" name="Text 40"/>
          <p:cNvSpPr/>
          <p:nvPr/>
        </p:nvSpPr>
        <p:spPr>
          <a:xfrm>
            <a:off x="5437099" y="2545476"/>
            <a:ext cx="2651760" cy="30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2018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437099" y="3838978"/>
            <a:ext cx="2651760" cy="46451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176.8 mm</a:t>
            </a:r>
            <a:endParaRPr lang="en-US" sz="3000" dirty="0"/>
          </a:p>
        </p:txBody>
      </p:sp>
      <p:sp>
        <p:nvSpPr>
          <p:cNvPr id="46" name="Text 44"/>
          <p:cNvSpPr/>
          <p:nvPr/>
        </p:nvSpPr>
        <p:spPr>
          <a:xfrm>
            <a:off x="5437099" y="3545959"/>
            <a:ext cx="2651760" cy="2930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 2024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MPC Design: Cost Function &amp; Calibration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2860"/>
          </a:xfrm>
          <a:prstGeom prst="rect">
            <a:avLst/>
          </a:prstGeom>
          <a:solidFill>
            <a:srgbClr val="0B9B8A"/>
          </a:solidFill>
          <a:ln w="12700">
            <a:solidFill>
              <a:srgbClr val="0B9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86868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Five-term cost function   J  (recommended operating point α*)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353312"/>
            <a:ext cx="73152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35331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α₁ = 1.0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057400" y="135331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biomass reward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63640" y="135331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term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929384"/>
            <a:ext cx="73152" cy="457200"/>
          </a:xfrm>
          <a:prstGeom prst="rect">
            <a:avLst/>
          </a:prstGeom>
          <a:solidFill>
            <a:srgbClr val="0B9B8A"/>
          </a:solidFill>
          <a:ln w="12700">
            <a:solidFill>
              <a:srgbClr val="0B9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192938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α₂ = 0.016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057400" y="1929384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cost (Iranian domestic-base tariff)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63640" y="192938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7 000 toman/m³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505456"/>
            <a:ext cx="73152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250545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α₃ = 0.1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057400" y="2505456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Drought stress regulariser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63640" y="250545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&lt;1% yield sensitivity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3081528"/>
            <a:ext cx="73152" cy="457200"/>
          </a:xfrm>
          <a:prstGeom prst="rect">
            <a:avLst/>
          </a:prstGeom>
          <a:solidFill>
            <a:srgbClr val="8EA8C3"/>
          </a:solidFill>
          <a:ln w="12700">
            <a:solidFill>
              <a:srgbClr val="8EA8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4360" y="308152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α₅ = 0.005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057400" y="308152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 smoothing ΔU²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63640" y="308152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tie-breaking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3657600"/>
            <a:ext cx="73152" cy="45720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94360" y="36576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α₆ = 8.0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057400" y="36576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FC-overshoot soft penalty  (x₁ &gt; FC)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63640" y="36576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waterlogging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" y="4315968"/>
            <a:ext cx="8321040" cy="228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11480" y="438912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Hp* = 8 days   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3 120 decision vars, 2 081 constraints (per step)   |   warm-start: 2.5× solver speedup   |   solver: CasADi + IPOPT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 Design: CTDE Architecture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2860"/>
          </a:xfrm>
          <a:prstGeom prst="rect">
            <a:avLst/>
          </a:prstGeom>
          <a:solidFill>
            <a:srgbClr val="0B9B8A"/>
          </a:solidFill>
          <a:ln w="12700">
            <a:solidFill>
              <a:srgbClr val="0B9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896112"/>
            <a:ext cx="3931920" cy="2286000"/>
          </a:xfrm>
          <a:prstGeom prst="rect">
            <a:avLst/>
          </a:prstGeom>
          <a:solidFill>
            <a:srgbClr val="1E3A5F"/>
          </a:solidFill>
          <a:ln w="12700">
            <a:solidFill>
              <a:srgbClr val="0B9B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89611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 (deployed online)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374904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 62-dim per-agent obs</a:t>
            </a:r>
            <a:endParaRPr lang="en-US" sz="125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(5 local + 57 global features)</a:t>
            </a:r>
            <a:endParaRPr lang="en-US" sz="125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Arch:   62 → 128 → 128 → 1</a:t>
            </a:r>
            <a:endParaRPr lang="en-US" sz="125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weights across all 130 agents</a:t>
            </a:r>
            <a:endParaRPr lang="en-US" sz="125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130 actions in ~1 ms (CPU)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846320" y="896112"/>
            <a:ext cx="3886200" cy="2286000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46320" y="896112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  (training only)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325880"/>
            <a:ext cx="370332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 837-dim (707 </a:t>
            </a:r>
            <a:r>
              <a:rPr lang="en-US" sz="12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</a:t>
            </a: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+ 130 actions)</a:t>
            </a:r>
            <a:endParaRPr lang="en-US" sz="125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Arch:   837 → 256 → 256 → 1 </a:t>
            </a:r>
          </a:p>
          <a:p>
            <a:pPr marL="0" indent="0" algn="ctr">
              <a:spcAft>
                <a:spcPts val="300"/>
              </a:spcAft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used at deployment time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229100" y="1716296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CTDE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2084832"/>
            <a:ext cx="50292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333756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707-dimensional observation space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3749040"/>
            <a:ext cx="2651760" cy="1115568"/>
          </a:xfrm>
          <a:prstGeom prst="rect">
            <a:avLst/>
          </a:prstGeom>
          <a:solidFill>
            <a:srgbClr val="1E3A5F"/>
          </a:solidFill>
          <a:ln w="12700">
            <a:solidFill>
              <a:srgbClr val="0B9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37490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650-dim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11480" y="425196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Per-agent block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states × 130 agents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37560" y="3749040"/>
            <a:ext cx="2651760" cy="1115568"/>
          </a:xfrm>
          <a:prstGeom prst="rect">
            <a:avLst/>
          </a:prstGeom>
          <a:solidFill>
            <a:srgbClr val="1E3A5F"/>
          </a:solidFill>
          <a:ln w="12700">
            <a:solidFill>
              <a:srgbClr val="0B9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37560" y="37490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9-dim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337560" y="425196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scalars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(day, budget, weather)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3749040"/>
            <a:ext cx="2651760" cy="1115568"/>
          </a:xfrm>
          <a:prstGeom prst="rect">
            <a:avLst/>
          </a:prstGeom>
          <a:solidFill>
            <a:srgbClr val="1E3A5F"/>
          </a:solidFill>
          <a:ln w="12700">
            <a:solidFill>
              <a:srgbClr val="0B9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63640" y="37490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48-dim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263640" y="425196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8-day forecast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 vars × 8 days)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Setup: 9-Cell Evaluation Grid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2860"/>
          </a:xfrm>
          <a:prstGeom prst="rect">
            <a:avLst/>
          </a:prstGeom>
          <a:solidFill>
            <a:srgbClr val="0B9B8A"/>
          </a:solidFill>
          <a:ln w="12700">
            <a:solidFill>
              <a:srgbClr val="0B9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82119" y="1081760"/>
            <a:ext cx="13482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\ Budget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7542" y="1081760"/>
            <a:ext cx="2148840" cy="457200"/>
          </a:xfrm>
          <a:prstGeom prst="rect">
            <a:avLst/>
          </a:prstGeom>
          <a:solidFill>
            <a:srgbClr val="0B9B8A"/>
          </a:solidFill>
          <a:ln w="12700">
            <a:solidFill>
              <a:srgbClr val="0B9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827542" y="10817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 484 mm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073513" y="1081760"/>
            <a:ext cx="2148840" cy="457200"/>
          </a:xfrm>
          <a:prstGeom prst="rect">
            <a:avLst/>
          </a:prstGeom>
          <a:solidFill>
            <a:srgbClr val="0B9B8A"/>
          </a:solidFill>
          <a:ln w="12700">
            <a:solidFill>
              <a:srgbClr val="0B9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073513" y="10817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 411 mm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19484" y="1081760"/>
            <a:ext cx="2148840" cy="457200"/>
          </a:xfrm>
          <a:prstGeom prst="rect">
            <a:avLst/>
          </a:prstGeom>
          <a:solidFill>
            <a:srgbClr val="0B9B8A"/>
          </a:solidFill>
          <a:ln w="12700">
            <a:solidFill>
              <a:srgbClr val="0B9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319484" y="10817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 339 mm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2119" y="1584680"/>
            <a:ext cx="1348292" cy="73152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82119" y="1584680"/>
            <a:ext cx="13482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(2022)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827542" y="1584680"/>
            <a:ext cx="2148840" cy="73152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827542" y="158468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1×MPC  +  5×SAC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 fixed-schedule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073513" y="1584680"/>
            <a:ext cx="2148840" cy="73152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073513" y="158468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1×MPC  +  5×SAC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 fixed-schedule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19484" y="1584680"/>
            <a:ext cx="2148840" cy="73152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19484" y="158468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1×MPC  +  5×SAC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 fixed-schedule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82119" y="2407640"/>
            <a:ext cx="1348292" cy="731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82119" y="2407640"/>
            <a:ext cx="13482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(2018)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827542" y="2407640"/>
            <a:ext cx="2148840" cy="73152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827542" y="240764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1×MPC  +  5×SAC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 fixed-schedule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073513" y="2407640"/>
            <a:ext cx="2148840" cy="73152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073513" y="240764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1×MPC  +  5×SAC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 fixed-schedule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19484" y="2407640"/>
            <a:ext cx="2148840" cy="73152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319484" y="240764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1×MPC  +  5×SAC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 fixed-schedule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82119" y="3230600"/>
            <a:ext cx="1348292" cy="731520"/>
          </a:xfrm>
          <a:prstGeom prst="rect">
            <a:avLst/>
          </a:prstGeom>
          <a:solidFill>
            <a:srgbClr val="0B9B8A"/>
          </a:solidFill>
          <a:ln w="12700">
            <a:solidFill>
              <a:srgbClr val="0B9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82119" y="3230600"/>
            <a:ext cx="13482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 (2024)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827542" y="3230600"/>
            <a:ext cx="2148840" cy="73152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827542" y="323060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1×MPC  +  5×SAC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 fixed-schedule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073513" y="3230600"/>
            <a:ext cx="2148840" cy="73152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073513" y="323060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1×MPC  +  5×SAC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 fixed-schedule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19484" y="3230600"/>
            <a:ext cx="2148840" cy="73152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319484" y="323060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1×MPC  +  5×SAC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 fixed-schedule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11480" y="411480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split:  20 training  |  3 dev  |  3 test years   (stratified by rainfall tercile)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11480" y="448056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years never touched during training or hyperparameter selection.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Results: No-Irrigation &amp; Fixed Schedule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2860"/>
          </a:xfrm>
          <a:prstGeom prst="rect">
            <a:avLst/>
          </a:prstGeom>
          <a:solidFill>
            <a:srgbClr val="0B9B8A"/>
          </a:solidFill>
          <a:ln w="12700">
            <a:solidFill>
              <a:srgbClr val="0B9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4" name="Chart 0"/>
          <p:cNvGraphicFramePr/>
          <p:nvPr/>
        </p:nvGraphicFramePr>
        <p:xfrm>
          <a:off x="411480" y="868680"/>
          <a:ext cx="54864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080760" y="868680"/>
            <a:ext cx="2651760" cy="3200400"/>
          </a:xfrm>
          <a:prstGeom prst="rect">
            <a:avLst/>
          </a:prstGeom>
          <a:solidFill>
            <a:srgbClr val="1E3A5F"/>
          </a:solidFill>
          <a:ln w="12700">
            <a:solidFill>
              <a:srgbClr val="0B9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080760" y="86868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172200" y="1298448"/>
            <a:ext cx="246888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 100% fixed: 83.7 waterlog-days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budget to 70% in wet year INCREASES yield (2790 → 3024 kg/ha)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schedule cannot respond to dry spells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Open-loop scheduling is fundamentally inadequate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11480" y="425196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Wet year: fixed-schedule 83.7 waterlog-days  vs.  MPC 19.0 days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MPC Results: Perfect Forecast, Hp = 8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2860"/>
          </a:xfrm>
          <a:prstGeom prst="rect">
            <a:avLst/>
          </a:prstGeom>
          <a:solidFill>
            <a:srgbClr val="0B9B8A"/>
          </a:solidFill>
          <a:ln w="12700">
            <a:solidFill>
              <a:srgbClr val="0B9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8424292"/>
              </p:ext>
            </p:extLst>
          </p:nvPr>
        </p:nvGraphicFramePr>
        <p:xfrm>
          <a:off x="411480" y="868680"/>
          <a:ext cx="6583680" cy="393192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9B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Yield (kg/ha)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9B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(mm)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9B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Wlog-d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9B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Wall-min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9B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Dry / 100%</a:t>
                      </a:r>
                      <a:endParaRPr lang="en-US" sz="1200" dirty="0">
                        <a:solidFill>
                          <a:schemeClr val="bg1">
                            <a:lumMod val="9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4 145</a:t>
                      </a:r>
                      <a:endParaRPr lang="en-US" sz="1200" dirty="0">
                        <a:solidFill>
                          <a:schemeClr val="bg1">
                            <a:lumMod val="9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469.1</a:t>
                      </a:r>
                      <a:endParaRPr lang="en-US" sz="1200" dirty="0">
                        <a:solidFill>
                          <a:schemeClr val="bg1">
                            <a:lumMod val="9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</a:t>
                      </a:r>
                      <a:endParaRPr lang="en-US" sz="1200" dirty="0">
                        <a:solidFill>
                          <a:schemeClr val="bg1">
                            <a:lumMod val="9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44.1</a:t>
                      </a:r>
                      <a:endParaRPr lang="en-US" sz="1200" dirty="0">
                        <a:solidFill>
                          <a:schemeClr val="bg1">
                            <a:lumMod val="9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Dry / 85%</a:t>
                      </a:r>
                      <a:endParaRPr lang="en-US" sz="1200" dirty="0">
                        <a:solidFill>
                          <a:schemeClr val="bg1">
                            <a:lumMod val="9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4 069</a:t>
                      </a:r>
                      <a:endParaRPr lang="en-US" sz="1200" dirty="0">
                        <a:solidFill>
                          <a:schemeClr val="bg1">
                            <a:lumMod val="9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409.9</a:t>
                      </a:r>
                      <a:endParaRPr lang="en-US" sz="1200" dirty="0">
                        <a:solidFill>
                          <a:schemeClr val="bg1">
                            <a:lumMod val="9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1200" dirty="0">
                        <a:solidFill>
                          <a:schemeClr val="bg1">
                            <a:lumMod val="9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32.7</a:t>
                      </a:r>
                      <a:endParaRPr lang="en-US" sz="1200" dirty="0">
                        <a:solidFill>
                          <a:schemeClr val="bg1">
                            <a:lumMod val="9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Dry / 70%</a:t>
                      </a:r>
                      <a:endParaRPr lang="en-US" sz="1200" dirty="0">
                        <a:solidFill>
                          <a:schemeClr val="bg1">
                            <a:lumMod val="9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3 766</a:t>
                      </a:r>
                      <a:endParaRPr lang="en-US" sz="1200" dirty="0">
                        <a:solidFill>
                          <a:schemeClr val="bg1">
                            <a:lumMod val="9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338.7</a:t>
                      </a:r>
                      <a:endParaRPr lang="en-US" sz="1200" dirty="0">
                        <a:solidFill>
                          <a:schemeClr val="bg1">
                            <a:lumMod val="9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</a:t>
                      </a:r>
                      <a:endParaRPr lang="en-US" sz="1200" dirty="0">
                        <a:solidFill>
                          <a:schemeClr val="bg1">
                            <a:lumMod val="9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22.0</a:t>
                      </a:r>
                      <a:endParaRPr lang="en-US" sz="1200" dirty="0">
                        <a:solidFill>
                          <a:schemeClr val="bg1">
                            <a:lumMod val="9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/ 100%</a:t>
                      </a:r>
                      <a:endParaRPr lang="en-US" sz="1200" dirty="0">
                        <a:solidFill>
                          <a:schemeClr val="bg1">
                            <a:lumMod val="9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3718</a:t>
                      </a:r>
                    </a:p>
                  </a:txBody>
                  <a:tcPr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399.8</a:t>
                      </a:r>
                    </a:p>
                  </a:txBody>
                  <a:tcPr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5.8</a:t>
                      </a:r>
                    </a:p>
                  </a:txBody>
                  <a:tcPr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85.2</a:t>
                      </a:r>
                    </a:p>
                  </a:txBody>
                  <a:tcPr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/ 85%</a:t>
                      </a:r>
                      <a:endParaRPr lang="en-US" sz="1200" dirty="0">
                        <a:solidFill>
                          <a:schemeClr val="bg1">
                            <a:lumMod val="9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3 725</a:t>
                      </a:r>
                    </a:p>
                  </a:txBody>
                  <a:tcPr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397.4</a:t>
                      </a:r>
                    </a:p>
                  </a:txBody>
                  <a:tcPr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</a:t>
                      </a:r>
                      <a:endParaRPr lang="en-US" sz="1200" dirty="0">
                        <a:solidFill>
                          <a:schemeClr val="bg1">
                            <a:lumMod val="9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375.6</a:t>
                      </a:r>
                    </a:p>
                  </a:txBody>
                  <a:tcPr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/ 70%</a:t>
                      </a:r>
                      <a:endParaRPr lang="en-US" sz="1200" dirty="0">
                        <a:solidFill>
                          <a:schemeClr val="bg1">
                            <a:lumMod val="9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3 612</a:t>
                      </a:r>
                      <a:endParaRPr lang="en-US" sz="1200" dirty="0">
                        <a:solidFill>
                          <a:schemeClr val="bg1">
                            <a:lumMod val="9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338.6</a:t>
                      </a:r>
                      <a:endParaRPr lang="en-US" sz="1200" dirty="0">
                        <a:solidFill>
                          <a:schemeClr val="bg1">
                            <a:lumMod val="9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</a:t>
                      </a:r>
                      <a:endParaRPr lang="en-US" sz="1200" dirty="0">
                        <a:solidFill>
                          <a:schemeClr val="bg1">
                            <a:lumMod val="9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31.9</a:t>
                      </a:r>
                    </a:p>
                  </a:txBody>
                  <a:tcPr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Wet / 100%</a:t>
                      </a:r>
                      <a:endParaRPr lang="en-US" sz="1200" dirty="0">
                        <a:solidFill>
                          <a:schemeClr val="bg1">
                            <a:lumMod val="9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3 759</a:t>
                      </a:r>
                      <a:endParaRPr lang="en-US" sz="1200" dirty="0">
                        <a:solidFill>
                          <a:schemeClr val="bg1">
                            <a:lumMod val="9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310.2</a:t>
                      </a:r>
                      <a:endParaRPr lang="en-US" sz="1200" dirty="0">
                        <a:solidFill>
                          <a:schemeClr val="bg1">
                            <a:lumMod val="9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19.0</a:t>
                      </a:r>
                      <a:endParaRPr lang="en-US" sz="1200" dirty="0">
                        <a:solidFill>
                          <a:schemeClr val="bg1">
                            <a:lumMod val="9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43.1</a:t>
                      </a:r>
                      <a:endParaRPr lang="en-US" sz="1200" dirty="0">
                        <a:solidFill>
                          <a:schemeClr val="bg1">
                            <a:lumMod val="9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Wet / 85%</a:t>
                      </a:r>
                      <a:endParaRPr lang="en-US" sz="1200" dirty="0">
                        <a:solidFill>
                          <a:schemeClr val="bg1">
                            <a:lumMod val="9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3 743</a:t>
                      </a:r>
                      <a:endParaRPr lang="en-US" sz="1200" dirty="0">
                        <a:solidFill>
                          <a:schemeClr val="bg1">
                            <a:lumMod val="9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308.3</a:t>
                      </a:r>
                      <a:endParaRPr lang="en-US" sz="1200" dirty="0">
                        <a:solidFill>
                          <a:schemeClr val="bg1">
                            <a:lumMod val="9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16.9</a:t>
                      </a:r>
                      <a:endParaRPr lang="en-US" sz="1200" dirty="0">
                        <a:solidFill>
                          <a:schemeClr val="bg1">
                            <a:lumMod val="9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48.3</a:t>
                      </a:r>
                      <a:endParaRPr lang="en-US" sz="1200" dirty="0">
                        <a:solidFill>
                          <a:schemeClr val="bg1">
                            <a:lumMod val="9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Wet / 70%</a:t>
                      </a:r>
                      <a:endParaRPr lang="en-US" sz="1200" dirty="0">
                        <a:solidFill>
                          <a:schemeClr val="bg1">
                            <a:lumMod val="9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3 754</a:t>
                      </a:r>
                      <a:endParaRPr lang="en-US" sz="1200" dirty="0">
                        <a:solidFill>
                          <a:schemeClr val="bg1">
                            <a:lumMod val="9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307.8</a:t>
                      </a:r>
                      <a:endParaRPr lang="en-US" sz="1200" dirty="0">
                        <a:solidFill>
                          <a:schemeClr val="bg1">
                            <a:lumMod val="9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18.2</a:t>
                      </a:r>
                      <a:endParaRPr lang="en-US" sz="1200" dirty="0">
                        <a:solidFill>
                          <a:schemeClr val="bg1">
                            <a:lumMod val="9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51.0</a:t>
                      </a:r>
                      <a:endParaRPr lang="en-US" sz="1200" dirty="0">
                        <a:solidFill>
                          <a:schemeClr val="bg1">
                            <a:lumMod val="9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132320" y="864757"/>
            <a:ext cx="1600200" cy="1152215"/>
          </a:xfrm>
          <a:prstGeom prst="rect">
            <a:avLst/>
          </a:prstGeom>
          <a:solidFill>
            <a:srgbClr val="1E3A5F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132320" y="868680"/>
            <a:ext cx="1600200" cy="63027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+14.9%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132320" y="1419244"/>
            <a:ext cx="1600200" cy="2627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32320" y="1551376"/>
            <a:ext cx="1600200" cy="3848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fixed-schedule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dry/100%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132320" y="2296348"/>
            <a:ext cx="1600200" cy="1109484"/>
          </a:xfrm>
          <a:prstGeom prst="rect">
            <a:avLst/>
          </a:prstGeom>
          <a:solidFill>
            <a:srgbClr val="1E3A5F"/>
          </a:solidFill>
          <a:ln w="12700">
            <a:solidFill>
              <a:srgbClr val="0B9B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8"/>
          <p:cNvSpPr/>
          <p:nvPr/>
        </p:nvSpPr>
        <p:spPr>
          <a:xfrm>
            <a:off x="7132320" y="2296348"/>
            <a:ext cx="1600200" cy="59147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+34.7%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7132320" y="2808104"/>
            <a:ext cx="1600200" cy="2627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132320" y="2844224"/>
            <a:ext cx="1600200" cy="4870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fixed-schedule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wet/100%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132320" y="3685209"/>
            <a:ext cx="1600200" cy="1109484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132320" y="3685209"/>
            <a:ext cx="1600200" cy="648389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7132320" y="4196965"/>
            <a:ext cx="1600200" cy="2627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132320" y="4306237"/>
            <a:ext cx="1600200" cy="4091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used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 year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 Training: Three-Phase Trajectory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2860"/>
          </a:xfrm>
          <a:prstGeom prst="rect">
            <a:avLst/>
          </a:prstGeom>
          <a:solidFill>
            <a:srgbClr val="0B9B8A"/>
          </a:solidFill>
          <a:ln w="12700">
            <a:solidFill>
              <a:srgbClr val="0B9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896112"/>
            <a:ext cx="2651760" cy="1771251"/>
          </a:xfrm>
          <a:prstGeom prst="rect">
            <a:avLst/>
          </a:prstGeom>
          <a:solidFill>
            <a:srgbClr val="1E3A5F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896112"/>
            <a:ext cx="2651760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89611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25k steps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298448"/>
            <a:ext cx="247497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Convergence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011680"/>
            <a:ext cx="247497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 loss 2713 → 0.67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Full-season completion ✓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86521" y="917829"/>
            <a:ext cx="2651760" cy="1763649"/>
          </a:xfrm>
          <a:prstGeom prst="rect">
            <a:avLst/>
          </a:prstGeom>
          <a:solidFill>
            <a:srgbClr val="1E3A5F"/>
          </a:solidFill>
          <a:ln w="12700">
            <a:solidFill>
              <a:srgbClr val="0B9B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186521" y="896112"/>
            <a:ext cx="2651760" cy="347472"/>
          </a:xfrm>
          <a:prstGeom prst="rect">
            <a:avLst/>
          </a:prstGeom>
          <a:solidFill>
            <a:srgbClr val="0B9B8A"/>
          </a:solidFill>
          <a:ln w="12700">
            <a:solidFill>
              <a:srgbClr val="0B9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186521" y="89611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25k – 96k steps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77961" y="1298448"/>
            <a:ext cx="247497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B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Productive Plateau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77961" y="2011680"/>
            <a:ext cx="2474976" cy="6556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eval R = −0.37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best_model.zip captured ✓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61562" y="902970"/>
            <a:ext cx="2651760" cy="1778508"/>
          </a:xfrm>
          <a:prstGeom prst="rect">
            <a:avLst/>
          </a:prstGeom>
          <a:solidFill>
            <a:srgbClr val="1E3A5F"/>
          </a:solidFill>
          <a:ln w="12700">
            <a:solidFill>
              <a:srgbClr val="E0525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961562" y="902970"/>
            <a:ext cx="2651760" cy="347472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61562" y="90297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96k – 200k steps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53002" y="1305306"/>
            <a:ext cx="247497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Q-value Divergence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53002" y="2018538"/>
            <a:ext cx="2474976" cy="6488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 loss → 84 693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ent_coef spike 0.03 → 1.29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2800894"/>
            <a:ext cx="4581434" cy="4724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Causes of Divergence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11480" y="3200400"/>
            <a:ext cx="4160520" cy="1943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c_term = 5: terminal bonus 300× larger than per-step rewards → Bellman error accumulation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130-dim joint action: critic Q(s,a) overfits; double-Q overestimation accumulates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target_entropy = −13: near-deterministic policy starves critic of action-space coverage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gradient clipping: large critic updates → larger errors → positive feedback loop</a:t>
            </a:r>
            <a:endParaRPr lang="en-US" sz="13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71ED65C-71CF-685F-55CC-C4DE6A036F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8026" y="2969259"/>
            <a:ext cx="3815296" cy="200423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 Evaluation: Seed 0, Best Model (~step 96k)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2860"/>
          </a:xfrm>
          <a:prstGeom prst="rect">
            <a:avLst/>
          </a:prstGeom>
          <a:solidFill>
            <a:srgbClr val="0B9B8A"/>
          </a:solidFill>
          <a:ln w="12700">
            <a:solidFill>
              <a:srgbClr val="0B9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4" name="Chart 0"/>
          <p:cNvGraphicFramePr/>
          <p:nvPr/>
        </p:nvGraphicFramePr>
        <p:xfrm>
          <a:off x="411480" y="868680"/>
          <a:ext cx="54864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080760" y="868680"/>
            <a:ext cx="2651760" cy="3200400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080760" y="86868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 Findings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172200" y="1298448"/>
            <a:ext cx="246888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39–70% budget utilised (never hits constraint)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~2–3 mm/day constant schedule — not scenario-adaptive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MORE water in wetter years (opposite of optimal)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B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Inference: ~1 ms  (25 000× faster than MPC)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11480" y="425196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Wet-year outperformance over fixed-schedule is coincidental, not learned behaviour.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11480" y="461772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pathology — not an inherent RL limitation. Known fixes specified for next run.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Head-to-Head: The Core Comparison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2860"/>
          </a:xfrm>
          <a:prstGeom prst="rect">
            <a:avLst/>
          </a:prstGeom>
          <a:solidFill>
            <a:srgbClr val="0B9B8A"/>
          </a:solidFill>
          <a:ln w="12700">
            <a:solidFill>
              <a:srgbClr val="0B9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4" name="Chart 0"/>
          <p:cNvGraphicFramePr/>
          <p:nvPr/>
        </p:nvGraphicFramePr>
        <p:xfrm>
          <a:off x="411480" y="868680"/>
          <a:ext cx="83210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11480" y="425196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MPC Hp=8:   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+492 to +969 kg/ha  over fixed schedule in all completed cells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11480" y="461772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 seed 0: 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−617 to −1130 kg/ha (dry/mod)  |  +131 to +355 kg/ha (wet, coincidental)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Cost: The Deployment Argument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2860"/>
          </a:xfrm>
          <a:prstGeom prst="rect">
            <a:avLst/>
          </a:prstGeom>
          <a:solidFill>
            <a:srgbClr val="0B9B8A"/>
          </a:solidFill>
          <a:ln w="12700">
            <a:solidFill>
              <a:srgbClr val="0B9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3840480" cy="1737360"/>
          </a:xfrm>
          <a:prstGeom prst="rect">
            <a:avLst/>
          </a:prstGeom>
          <a:solidFill>
            <a:srgbClr val="1E3A5F"/>
          </a:solidFill>
          <a:ln w="12700">
            <a:solidFill>
              <a:srgbClr val="E0525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987552"/>
            <a:ext cx="3840480" cy="9555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25.9 min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1922069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wall-clock per day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2269541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MPC mean per-decision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92040" y="914400"/>
            <a:ext cx="3840480" cy="1737360"/>
          </a:xfrm>
          <a:prstGeom prst="rect">
            <a:avLst/>
          </a:prstGeom>
          <a:solidFill>
            <a:srgbClr val="1E3A5F"/>
          </a:solidFill>
          <a:ln w="12700">
            <a:solidFill>
              <a:srgbClr val="0B9B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92040" y="987552"/>
            <a:ext cx="3840480" cy="9555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892040" y="1922069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inference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92040" y="2269541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 mean per-decision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503296" y="1397237"/>
            <a:ext cx="2362744" cy="800100"/>
          </a:xfrm>
          <a:prstGeom prst="rect">
            <a:avLst/>
          </a:prstGeom>
          <a:solidFill>
            <a:srgbClr val="0B9B8A"/>
          </a:solidFill>
          <a:ln w="12700">
            <a:solidFill>
              <a:srgbClr val="0B9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503296" y="1442957"/>
            <a:ext cx="2362744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25 000× faster</a:t>
            </a:r>
            <a:endParaRPr lang="en-US" sz="2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BAB5D6-0C03-CFE0-B89A-F300FA03C4A1}"/>
              </a:ext>
            </a:extLst>
          </p:cNvPr>
          <p:cNvSpPr txBox="1"/>
          <p:nvPr/>
        </p:nvSpPr>
        <p:spPr>
          <a:xfrm>
            <a:off x="4892040" y="2941733"/>
            <a:ext cx="3840480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B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SAC:</a:t>
            </a: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 algn="ctr">
              <a:spcAft>
                <a:spcPts val="600"/>
              </a:spcAft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 s total season |  cold start 41 </a:t>
            </a:r>
            <a:r>
              <a:rPr lang="en-US" sz="18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compatible with edge MCU at 3 </a:t>
            </a:r>
            <a:r>
              <a:rPr lang="en-US" sz="18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budget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D7C8653-540C-6603-3FB9-840D739EF45B}"/>
              </a:ext>
            </a:extLst>
          </p:cNvPr>
          <p:cNvSpPr txBox="1"/>
          <p:nvPr/>
        </p:nvSpPr>
        <p:spPr>
          <a:xfrm>
            <a:off x="411480" y="2954217"/>
            <a:ext cx="3840480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MPC:</a:t>
            </a: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 algn="ctr">
              <a:spcAft>
                <a:spcPts val="600"/>
              </a:spcAft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22–51 wall-min per season  |  worst-case single call: 274 s  |  requires high-performance CPU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Fixes for Next SAC Training Run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2860"/>
          </a:xfrm>
          <a:prstGeom prst="rect">
            <a:avLst/>
          </a:prstGeom>
          <a:solidFill>
            <a:srgbClr val="0B9B8A"/>
          </a:solidFill>
          <a:ln w="12700">
            <a:solidFill>
              <a:srgbClr val="0B9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896112"/>
            <a:ext cx="594360" cy="82296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896112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93268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terminal bonus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316736"/>
            <a:ext cx="7635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c_term = 0.  Per-step reward integrates to equivalent total biomass signal, distributed smoothly. Eliminates the 300× reward-concentration that causes Bellman error amplification.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901952"/>
            <a:ext cx="594360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901952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193852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gradient clipping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322576"/>
            <a:ext cx="7635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max_grad_norm = 1.0 in SAC constructor.  Breaks the positive feedback loop: large critic loss → large gradients → larger errors.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2907792"/>
            <a:ext cx="594360" cy="822960"/>
          </a:xfrm>
          <a:prstGeom prst="rect">
            <a:avLst/>
          </a:prstGeom>
          <a:solidFill>
            <a:srgbClr val="0B9B8A"/>
          </a:solidFill>
          <a:ln w="12700">
            <a:solidFill>
              <a:srgbClr val="0B9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2907792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294436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decay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3328416"/>
            <a:ext cx="7635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3×10⁻⁴ → 5×10⁻⁵ over 500k steps.  Prevents noisy late-training updates from destabilising a near-converged Q-function.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3913632"/>
            <a:ext cx="594360" cy="8229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3913632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395020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Relax target entropy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4334256"/>
            <a:ext cx="7635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−13 → −20 to −25 (−0.15 to −0.2 × dim).  Improves action-space coverage in late training, reducing Q-overestimation at distribution edges.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B9B8A"/>
          </a:solidFill>
          <a:ln w="12700">
            <a:solidFill>
              <a:srgbClr val="0B9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8321040" cy="22860"/>
          </a:xfrm>
          <a:prstGeom prst="rect">
            <a:avLst/>
          </a:prstGeom>
          <a:solidFill>
            <a:srgbClr val="0B9B8A"/>
          </a:solidFill>
          <a:ln w="12700">
            <a:solidFill>
              <a:srgbClr val="0B9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411480" cy="411480"/>
          </a:xfrm>
          <a:prstGeom prst="ellipse">
            <a:avLst/>
          </a:prstGeom>
          <a:solidFill>
            <a:srgbClr val="0B9B8A"/>
          </a:solidFill>
          <a:ln w="12700">
            <a:solidFill>
              <a:srgbClr val="0B9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241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005840"/>
            <a:ext cx="7818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MPC outperforms fixed-schedule by 492–969 kg/ha across all completed cells; waterlogging virtually eliminated.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956816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9568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1938528"/>
            <a:ext cx="78181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 currently underperforms MPC significantly due to a training pathology (Q-value divergence)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889504"/>
            <a:ext cx="411480" cy="411480"/>
          </a:xfrm>
          <a:prstGeom prst="ellipse">
            <a:avLst/>
          </a:prstGeom>
          <a:solidFill>
            <a:srgbClr val="8EA8C3"/>
          </a:solidFill>
          <a:ln w="12700">
            <a:solidFill>
              <a:srgbClr val="8EA8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288950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2871216"/>
            <a:ext cx="7818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Forecast-noise evaluation runs are to be completed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822192"/>
            <a:ext cx="411480" cy="4114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38221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3803904"/>
            <a:ext cx="7818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 delivers 25 000× faster inference (1 ms vs 25.9 min per day), enabling real-time edge deployment. The computational argument for RL holds even before agronomic parity is reached.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50976" y="3026664"/>
            <a:ext cx="4114800" cy="4114800"/>
          </a:xfrm>
          <a:prstGeom prst="ellipse">
            <a:avLst/>
          </a:prstGeom>
          <a:solidFill>
            <a:srgbClr val="0B9B8A">
              <a:alpha val="15000"/>
            </a:srgbClr>
          </a:solidFill>
          <a:ln w="12700">
            <a:solidFill>
              <a:srgbClr val="0B9B8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0B9B8A">
              <a:alpha val="20000"/>
            </a:srgbClr>
          </a:solidFill>
          <a:ln w="12700">
            <a:solidFill>
              <a:srgbClr val="0B9B8A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286000" y="2651760"/>
            <a:ext cx="4572000" cy="22860"/>
          </a:xfrm>
          <a:prstGeom prst="rect">
            <a:avLst/>
          </a:prstGeom>
          <a:solidFill>
            <a:srgbClr val="0B9B8A"/>
          </a:solidFill>
          <a:ln w="12700">
            <a:solidFill>
              <a:srgbClr val="0B9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 Torbati   |   ITMO University R4237c   |   Supervisor: Peregudin A. A.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B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github.com/taratorbati/thesis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1052</TotalTime>
  <Words>1514</Words>
  <Application>Microsoft Office PowerPoint</Application>
  <PresentationFormat>On-screen Show (16:9)</PresentationFormat>
  <Paragraphs>297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Modern Control Methods for Agricultural Irrigation</dc:title>
  <dc:subject>PptxGenJS Presentation</dc:subject>
  <dc:creator>Tara Torbati</dc:creator>
  <cp:lastModifiedBy>Tara Torbati</cp:lastModifiedBy>
  <cp:revision>5</cp:revision>
  <dcterms:created xsi:type="dcterms:W3CDTF">2026-05-13T18:59:05Z</dcterms:created>
  <dcterms:modified xsi:type="dcterms:W3CDTF">2026-05-14T22:47:38Z</dcterms:modified>
</cp:coreProperties>
</file>